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the team and the one-line idea: we built an app that turns class notes into a podcast episode you can listen to. Then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We all have more notes than we will ever reread. But we do have time to listen: on the way to class, on a walk. So the idea: turn the notes into a short podcast that explains the content, not just reads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Walk left to right. data_processor reads the upload, a TXT or PDF file or a web article from a URL, and cleans it. llm_processor sends it to gpt-4o-mini with our system prompt and gets a script back. tts_generator turns that script into speech with the tts-1 voice. main.py is the Gradio app that connects all three. Point: one job per file meant one owner per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Do not read every card; group them. Input: PDF, TXT, or an article URL, where only the article text is kept, and everything gets cleaned. Output length: Short, Medium or Long, and long episodes are written part by part from an outline. The two dark cards are the engineering highlights: the length selection and the audio chunking, because the voice model only takes 4,000 characters at a time, so we split the script, record four pieces in parallel and join them into one mp3. Finally: every episode is saved with its own name and a download button, and clear error messages when a PDF is scanned or a website is behind a paywall.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The quality comes from the system prompt. One host, Sam, who talks to you like a good instructor who has also done consulting. Rules: plain words but keep the real terminology, always explain why, connect it to client work, ignore PDF layout junk and do not invent facts. Second feature: the length selector. The model stops early on very long texts, so for medium and long we first plan an outline and then write each part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Before the talk: start the app with python src/main.py and open http://127.0.0.1:7860 in the browser. During the demo: upload the notes file (or paste an article URL), keep Short so it finishes in about 15 to 25 seconds, click Submit. While it generates, point at the length options and the article URL field. Then play 20 to 30 seconds of audio, scroll the script, and show the download button. Every episode is saved with its own name in outputs/. Backup if the Wi-Fi or API is slow: this screenshot, plus an already generated episode open in a second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Each of us had a branch and a module. Work reached main only through pull requests. Our first two PRs both changed .gitignore and requirements.txt and collided, which taught us to pull main into our branch before starting and before opening a PR. At the end, three features landed in main.py in the same week: the length selector, the article URL input and the environment fix. We merged them one at a time and tested the app after each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Say the slogan, pause, then the story: we learned Git as a team the hard way, by trial and error. Each of us used AI to compare and adapt our code, but we were working on different branches. Bringing those versions together took extra coordination and sometimes caused confusion, so our workflow wasn't always efficient. Optional joke with a smile: our AI assistants wrote most of the code, we mostly carried their merge conflicts between laptops. What fixed it was boring Git discipline: one branch per task, pull main before every pull request, merge one at a time and test after each merge. Then: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5192B"/>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27"/>
            <a:ext cx="10566400" cy="4084373"/>
          </a:xfrm>
          <a:prstGeom prst="rect">
            <a:avLst/>
          </a:prstGeom>
          <a:noFill/>
          <a:ln/>
        </p:spPr>
        <p:txBody>
          <a:bodyPr wrap="square" lIns="0" tIns="0" rIns="0" bIns="0" rtlCol="0" anchor="t"/>
          <a:lstStyle>
            <a:lvl1pPr algn="l" indent="0" marL="0">
              <a:lnSpc>
                <a:spcPct val="140000"/>
              </a:lnSpc>
              <a:buNone/>
              <a:defRPr lang="en-US" sz="1600" dirty="0">
                <a:solidFill>
                  <a:srgbClr val="15192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5192B"/>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27"/>
            <a:ext cx="10566400" cy="4084373"/>
          </a:xfrm>
          <a:prstGeom prst="rect">
            <a:avLst/>
          </a:prstGeom>
          <a:noFill/>
          <a:ln/>
        </p:spPr>
        <p:txBody>
          <a:bodyPr wrap="square" lIns="0" tIns="0" rIns="0" bIns="0" rtlCol="0" anchor="t"/>
          <a:lstStyle>
            <a:lvl1pPr algn="l" indent="0" marL="0">
              <a:lnSpc>
                <a:spcPct val="140000"/>
              </a:lnSpc>
              <a:buNone/>
              <a:defRPr lang="en-US" sz="1600" dirty="0">
                <a:solidFill>
                  <a:srgbClr val="15192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92B"/>
        </a:solidFill>
      </p:bgPr>
    </p:bg>
    <p:spTree>
      <p:nvGrpSpPr>
        <p:cNvPr id="1" name=""/>
        <p:cNvGrpSpPr/>
        <p:nvPr/>
      </p:nvGrpSpPr>
      <p:grpSpPr>
        <a:xfrm>
          <a:off x="0" y="0"/>
          <a:ext cx="0" cy="0"/>
          <a:chOff x="0" y="0"/>
          <a:chExt cx="0" cy="0"/>
        </a:xfrm>
      </p:grpSpPr>
      <p:pic>
        <p:nvPicPr>
          <p:cNvPr id="2" name="Image 0" descr="Sound wave">    </p:cNvPr>
          <p:cNvPicPr>
            <a:picLocks noChangeAspect="1"/>
          </p:cNvPicPr>
          <p:nvPr/>
        </p:nvPicPr>
        <p:blipFill>
          <a:blip r:embed="rId1"/>
          <a:srcRect l="0" r="0" t="0" b="0"/>
          <a:stretch/>
        </p:blipFill>
        <p:spPr>
          <a:xfrm>
            <a:off x="7416800" y="2413000"/>
            <a:ext cx="3962400" cy="2032000"/>
          </a:xfrm>
          <a:prstGeom prst="rect">
            <a:avLst/>
          </a:prstGeom>
        </p:spPr>
      </p:pic>
      <p:sp>
        <p:nvSpPr>
          <p:cNvPr id="3" name="Text 0"/>
          <p:cNvSpPr/>
          <p:nvPr/>
        </p:nvSpPr>
        <p:spPr>
          <a:xfrm>
            <a:off x="812800" y="203583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A5E"/>
                </a:solidFill>
                <a:latin typeface="JetBrains Mono" pitchFamily="49" charset="0"/>
                <a:ea typeface="JetBrains Mono" pitchFamily="49" charset="-122"/>
                <a:cs typeface="JetBrains Mono" pitchFamily="49" charset="-120"/>
              </a:rPr>
              <a:t>AI CONSULTING &amp; INTEGRATION · WEEK 2 PROJECT</a:t>
            </a:r>
            <a:endParaRPr lang="en-US" sz="1200" dirty="0"/>
          </a:p>
        </p:txBody>
      </p:sp>
      <p:sp>
        <p:nvSpPr>
          <p:cNvPr id="4" name="Text 1"/>
          <p:cNvSpPr/>
          <p:nvPr>
            <p:ph type="title"/>
          </p:nvPr>
        </p:nvSpPr>
        <p:spPr>
          <a:xfrm>
            <a:off x="812800" y="2503157"/>
            <a:ext cx="654050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5F9"/>
                </a:solidFill>
                <a:latin typeface="Bricolage Grotesque" pitchFamily="34" charset="0"/>
                <a:ea typeface="Bricolage Grotesque" pitchFamily="34" charset="-122"/>
                <a:cs typeface="Bricolage Grotesque" pitchFamily="34" charset="-120"/>
              </a:rPr>
              <a:t>Lesson Recapper</a:t>
            </a:r>
            <a:endParaRPr lang="en-US" sz="6000" dirty="0"/>
          </a:p>
        </p:txBody>
      </p:sp>
      <p:sp>
        <p:nvSpPr>
          <p:cNvPr id="5" name="Text 2"/>
          <p:cNvSpPr/>
          <p:nvPr/>
        </p:nvSpPr>
        <p:spPr>
          <a:xfrm>
            <a:off x="812800" y="3557257"/>
            <a:ext cx="6278880" cy="751814"/>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CC3D3"/>
                </a:solidFill>
                <a:latin typeface="DM Sans" pitchFamily="34" charset="0"/>
                <a:ea typeface="DM Sans" pitchFamily="34" charset="-122"/>
                <a:cs typeface="DM Sans" pitchFamily="34" charset="-120"/>
              </a:rPr>
              <a:t>Upload your class notes. Get a podcast episode back.</a:t>
            </a:r>
            <a:endParaRPr lang="en-US" sz="2200" dirty="0"/>
          </a:p>
        </p:txBody>
      </p:sp>
      <p:sp>
        <p:nvSpPr>
          <p:cNvPr id="6" name="Text 3"/>
          <p:cNvSpPr/>
          <p:nvPr/>
        </p:nvSpPr>
        <p:spPr>
          <a:xfrm>
            <a:off x="812800" y="453767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9"/>
                </a:solidFill>
                <a:latin typeface="DM Sans" pitchFamily="34" charset="0"/>
                <a:ea typeface="DM Sans" pitchFamily="34" charset="-122"/>
                <a:cs typeface="DM Sans" pitchFamily="34" charset="-120"/>
              </a:rPr>
              <a:t>Armin · Fritz · Sandra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501C"/>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53120"/>
            <a:ext cx="9810750"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92B"/>
                </a:solidFill>
                <a:latin typeface="Bricolage Grotesque" pitchFamily="34" charset="0"/>
                <a:ea typeface="Bricolage Grotesque" pitchFamily="34" charset="-122"/>
                <a:cs typeface="Bricolage Grotesque" pitchFamily="34" charset="-120"/>
              </a:rPr>
              <a:t>Class notes pile up. Nobody rereads them.</a:t>
            </a:r>
            <a:endParaRPr lang="en-US" sz="3600" dirty="0"/>
          </a:p>
        </p:txBody>
      </p:sp>
      <p:sp>
        <p:nvSpPr>
          <p:cNvPr id="4" name="Shape 2"/>
          <p:cNvSpPr/>
          <p:nvPr/>
        </p:nvSpPr>
        <p:spPr>
          <a:xfrm>
            <a:off x="815975" y="2065603"/>
            <a:ext cx="3380317" cy="2060641"/>
          </a:xfrm>
          <a:prstGeom prst="roundRect">
            <a:avLst>
              <a:gd name="adj" fmla="val 6009"/>
            </a:avLst>
          </a:prstGeom>
          <a:solidFill>
            <a:srgbClr val="FCFDFE"/>
          </a:solidFill>
          <a:ln w="6350">
            <a:solidFill>
              <a:srgbClr val="DCE1EA"/>
            </a:solidFill>
            <a:prstDash val="solid"/>
          </a:ln>
        </p:spPr>
      </p:sp>
      <p:pic>
        <p:nvPicPr>
          <p:cNvPr id="5" name="Image 0" descr="Book">    </p:cNvPr>
          <p:cNvPicPr>
            <a:picLocks noChangeAspect="1"/>
          </p:cNvPicPr>
          <p:nvPr/>
        </p:nvPicPr>
        <p:blipFill>
          <a:blip r:embed="rId1"/>
          <a:srcRect l="0" r="0" t="0" b="0"/>
          <a:stretch/>
        </p:blipFill>
        <p:spPr>
          <a:xfrm>
            <a:off x="1121833" y="2371461"/>
            <a:ext cx="355600" cy="355600"/>
          </a:xfrm>
          <a:prstGeom prst="rect">
            <a:avLst/>
          </a:prstGeom>
        </p:spPr>
      </p:pic>
      <p:sp>
        <p:nvSpPr>
          <p:cNvPr id="6" name="Text 3"/>
          <p:cNvSpPr/>
          <p:nvPr/>
        </p:nvSpPr>
        <p:spPr>
          <a:xfrm>
            <a:off x="1121833" y="2828661"/>
            <a:ext cx="285165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5192B"/>
                </a:solidFill>
                <a:latin typeface="Bricolage Grotesque" pitchFamily="34" charset="0"/>
                <a:ea typeface="Bricolage Grotesque" pitchFamily="34" charset="-122"/>
                <a:cs typeface="Bricolage Grotesque" pitchFamily="34" charset="-120"/>
              </a:rPr>
              <a:t>Too much material</a:t>
            </a:r>
            <a:endParaRPr lang="en-US" sz="2200" dirty="0"/>
          </a:p>
        </p:txBody>
      </p:sp>
      <p:sp>
        <p:nvSpPr>
          <p:cNvPr id="7" name="Text 4"/>
          <p:cNvSpPr/>
          <p:nvPr/>
        </p:nvSpPr>
        <p:spPr>
          <a:xfrm>
            <a:off x="1121833" y="3251531"/>
            <a:ext cx="285165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366"/>
                </a:solidFill>
                <a:latin typeface="DM Sans" pitchFamily="34" charset="0"/>
                <a:ea typeface="DM Sans" pitchFamily="34" charset="-122"/>
                <a:cs typeface="DM Sans" pitchFamily="34" charset="-120"/>
              </a:rPr>
              <a:t>Long notes and PDFs, new ones every week.</a:t>
            </a:r>
            <a:endParaRPr lang="en-US" sz="1600" dirty="0"/>
          </a:p>
        </p:txBody>
      </p:sp>
      <p:sp>
        <p:nvSpPr>
          <p:cNvPr id="8" name="Shape 5"/>
          <p:cNvSpPr/>
          <p:nvPr/>
        </p:nvSpPr>
        <p:spPr>
          <a:xfrm>
            <a:off x="4405842" y="2065603"/>
            <a:ext cx="3380317" cy="2060641"/>
          </a:xfrm>
          <a:prstGeom prst="roundRect">
            <a:avLst>
              <a:gd name="adj" fmla="val 6009"/>
            </a:avLst>
          </a:prstGeom>
          <a:solidFill>
            <a:srgbClr val="FCFDFE"/>
          </a:solidFill>
          <a:ln w="6350">
            <a:solidFill>
              <a:srgbClr val="DCE1EA"/>
            </a:solidFill>
            <a:prstDash val="solid"/>
          </a:ln>
        </p:spPr>
      </p:sp>
      <p:pic>
        <p:nvPicPr>
          <p:cNvPr id="9" name="Image 1" descr="Clock">    </p:cNvPr>
          <p:cNvPicPr>
            <a:picLocks noChangeAspect="1"/>
          </p:cNvPicPr>
          <p:nvPr/>
        </p:nvPicPr>
        <p:blipFill>
          <a:blip r:embed="rId2"/>
          <a:srcRect l="0" r="0" t="0" b="0"/>
          <a:stretch/>
        </p:blipFill>
        <p:spPr>
          <a:xfrm>
            <a:off x="4711700" y="2371461"/>
            <a:ext cx="355600" cy="355600"/>
          </a:xfrm>
          <a:prstGeom prst="rect">
            <a:avLst/>
          </a:prstGeom>
        </p:spPr>
      </p:pic>
      <p:sp>
        <p:nvSpPr>
          <p:cNvPr id="10" name="Text 6"/>
          <p:cNvSpPr/>
          <p:nvPr/>
        </p:nvSpPr>
        <p:spPr>
          <a:xfrm>
            <a:off x="4711700" y="2828661"/>
            <a:ext cx="285165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5192B"/>
                </a:solidFill>
                <a:latin typeface="Bricolage Grotesque" pitchFamily="34" charset="0"/>
                <a:ea typeface="Bricolage Grotesque" pitchFamily="34" charset="-122"/>
                <a:cs typeface="Bricolage Grotesque" pitchFamily="34" charset="-120"/>
              </a:rPr>
              <a:t>No time to review</a:t>
            </a:r>
            <a:endParaRPr lang="en-US" sz="2200" dirty="0"/>
          </a:p>
        </p:txBody>
      </p:sp>
      <p:sp>
        <p:nvSpPr>
          <p:cNvPr id="11" name="Text 7"/>
          <p:cNvSpPr/>
          <p:nvPr/>
        </p:nvSpPr>
        <p:spPr>
          <a:xfrm>
            <a:off x="4711700" y="3251531"/>
            <a:ext cx="285165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366"/>
                </a:solidFill>
                <a:latin typeface="DM Sans" pitchFamily="34" charset="0"/>
                <a:ea typeface="DM Sans" pitchFamily="34" charset="-122"/>
                <a:cs typeface="DM Sans" pitchFamily="34" charset="-120"/>
              </a:rPr>
              <a:t>Rereading feels like work, so it gets skipped.</a:t>
            </a:r>
            <a:endParaRPr lang="en-US" sz="1600" dirty="0"/>
          </a:p>
        </p:txBody>
      </p:sp>
      <p:sp>
        <p:nvSpPr>
          <p:cNvPr id="12" name="Shape 8"/>
          <p:cNvSpPr/>
          <p:nvPr/>
        </p:nvSpPr>
        <p:spPr>
          <a:xfrm>
            <a:off x="7995709" y="2065603"/>
            <a:ext cx="3380317" cy="2060641"/>
          </a:xfrm>
          <a:prstGeom prst="roundRect">
            <a:avLst>
              <a:gd name="adj" fmla="val 6009"/>
            </a:avLst>
          </a:prstGeom>
          <a:solidFill>
            <a:srgbClr val="FCFDFE"/>
          </a:solidFill>
          <a:ln w="6350">
            <a:solidFill>
              <a:srgbClr val="DCE1EA"/>
            </a:solidFill>
            <a:prstDash val="solid"/>
          </a:ln>
        </p:spPr>
      </p:sp>
      <p:pic>
        <p:nvPicPr>
          <p:cNvPr id="13" name="Image 2" descr="Play">    </p:cNvPr>
          <p:cNvPicPr>
            <a:picLocks noChangeAspect="1"/>
          </p:cNvPicPr>
          <p:nvPr/>
        </p:nvPicPr>
        <p:blipFill>
          <a:blip r:embed="rId3"/>
          <a:srcRect l="0" r="0" t="0" b="0"/>
          <a:stretch/>
        </p:blipFill>
        <p:spPr>
          <a:xfrm>
            <a:off x="8301567" y="2371461"/>
            <a:ext cx="355600" cy="355600"/>
          </a:xfrm>
          <a:prstGeom prst="rect">
            <a:avLst/>
          </a:prstGeom>
        </p:spPr>
      </p:pic>
      <p:sp>
        <p:nvSpPr>
          <p:cNvPr id="14" name="Text 9"/>
          <p:cNvSpPr/>
          <p:nvPr/>
        </p:nvSpPr>
        <p:spPr>
          <a:xfrm>
            <a:off x="8301567" y="2828661"/>
            <a:ext cx="285165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5192B"/>
                </a:solidFill>
                <a:latin typeface="Bricolage Grotesque" pitchFamily="34" charset="0"/>
                <a:ea typeface="Bricolage Grotesque" pitchFamily="34" charset="-122"/>
                <a:cs typeface="Bricolage Grotesque" pitchFamily="34" charset="-120"/>
              </a:rPr>
              <a:t>Ears are free</a:t>
            </a:r>
            <a:endParaRPr lang="en-US" sz="2200" dirty="0"/>
          </a:p>
        </p:txBody>
      </p:sp>
      <p:sp>
        <p:nvSpPr>
          <p:cNvPr id="15" name="Text 10"/>
          <p:cNvSpPr/>
          <p:nvPr/>
        </p:nvSpPr>
        <p:spPr>
          <a:xfrm>
            <a:off x="8301567" y="3251531"/>
            <a:ext cx="285165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366"/>
                </a:solidFill>
                <a:latin typeface="DM Sans" pitchFamily="34" charset="0"/>
                <a:ea typeface="DM Sans" pitchFamily="34" charset="-122"/>
                <a:cs typeface="DM Sans" pitchFamily="34" charset="-120"/>
              </a:rPr>
              <a:t>Commutes, walks, the gym: perfect time to listen.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501C"/>
                </a:solidFill>
                <a:latin typeface="JetBrains Mono" pitchFamily="49" charset="0"/>
                <a:ea typeface="JetBrains Mono" pitchFamily="49" charset="-122"/>
                <a:cs typeface="JetBrains Mono" pitchFamily="49" charset="-120"/>
              </a:rPr>
              <a:t>HOW IT WORKS</a:t>
            </a:r>
            <a:endParaRPr lang="en-US" sz="1200" dirty="0"/>
          </a:p>
        </p:txBody>
      </p:sp>
      <p:sp>
        <p:nvSpPr>
          <p:cNvPr id="3" name="Text 1"/>
          <p:cNvSpPr/>
          <p:nvPr>
            <p:ph type="title"/>
          </p:nvPr>
        </p:nvSpPr>
        <p:spPr>
          <a:xfrm>
            <a:off x="812800" y="1153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92B"/>
                </a:solidFill>
                <a:latin typeface="Bricolage Grotesque" pitchFamily="34" charset="0"/>
                <a:ea typeface="Bricolage Grotesque" pitchFamily="34" charset="-122"/>
                <a:cs typeface="Bricolage Grotesque" pitchFamily="34" charset="-120"/>
              </a:rPr>
              <a:t>One job per file</a:t>
            </a:r>
            <a:endParaRPr lang="en-US" sz="3600" dirty="0"/>
          </a:p>
        </p:txBody>
      </p:sp>
      <p:sp>
        <p:nvSpPr>
          <p:cNvPr id="4" name="Shape 2"/>
          <p:cNvSpPr/>
          <p:nvPr/>
        </p:nvSpPr>
        <p:spPr>
          <a:xfrm>
            <a:off x="815975" y="2065603"/>
            <a:ext cx="2294467" cy="1749425"/>
          </a:xfrm>
          <a:prstGeom prst="roundRect">
            <a:avLst>
              <a:gd name="adj" fmla="val 7078"/>
            </a:avLst>
          </a:prstGeom>
          <a:solidFill>
            <a:srgbClr val="FCFDFE"/>
          </a:solidFill>
          <a:ln w="6350">
            <a:solidFill>
              <a:srgbClr val="DCE1EA"/>
            </a:solidFill>
            <a:prstDash val="solid"/>
          </a:ln>
        </p:spPr>
      </p:sp>
      <p:sp>
        <p:nvSpPr>
          <p:cNvPr id="5" name="Text 3"/>
          <p:cNvSpPr/>
          <p:nvPr/>
        </p:nvSpPr>
        <p:spPr>
          <a:xfrm>
            <a:off x="1020233" y="2269861"/>
            <a:ext cx="19425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C"/>
                </a:solidFill>
                <a:latin typeface="JetBrains Mono" pitchFamily="49" charset="0"/>
                <a:ea typeface="JetBrains Mono" pitchFamily="49" charset="-122"/>
                <a:cs typeface="JetBrains Mono" pitchFamily="49" charset="-120"/>
              </a:rPr>
              <a:t>data_processor</a:t>
            </a:r>
            <a:endParaRPr lang="en-US" sz="1200" dirty="0"/>
          </a:p>
        </p:txBody>
      </p:sp>
      <p:sp>
        <p:nvSpPr>
          <p:cNvPr id="6" name="Text 4"/>
          <p:cNvSpPr/>
          <p:nvPr/>
        </p:nvSpPr>
        <p:spPr>
          <a:xfrm>
            <a:off x="1020233" y="2559382"/>
            <a:ext cx="1942529"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92B"/>
                </a:solidFill>
                <a:latin typeface="Bricolage Grotesque" pitchFamily="34" charset="0"/>
                <a:ea typeface="Bricolage Grotesque" pitchFamily="34" charset="-122"/>
                <a:cs typeface="Bricolage Grotesque" pitchFamily="34" charset="-120"/>
              </a:rPr>
              <a:t>Clean</a:t>
            </a:r>
            <a:endParaRPr lang="en-US" sz="2200" dirty="0"/>
          </a:p>
        </p:txBody>
      </p:sp>
      <p:sp>
        <p:nvSpPr>
          <p:cNvPr id="7" name="Text 5"/>
          <p:cNvSpPr/>
          <p:nvPr/>
        </p:nvSpPr>
        <p:spPr>
          <a:xfrm>
            <a:off x="1020233" y="2970808"/>
            <a:ext cx="194252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Reads TXT, PDF or an article URL and cleans the text</a:t>
            </a:r>
            <a:endParaRPr lang="en-US" sz="1200" dirty="0"/>
          </a:p>
        </p:txBody>
      </p:sp>
      <p:pic>
        <p:nvPicPr>
          <p:cNvPr id="8" name="Image 0" descr="arrow-right">    </p:cNvPr>
          <p:cNvPicPr>
            <a:picLocks noChangeAspect="1"/>
          </p:cNvPicPr>
          <p:nvPr/>
        </p:nvPicPr>
        <p:blipFill>
          <a:blip r:embed="rId1"/>
          <a:srcRect l="0" r="0" t="0" b="0"/>
          <a:stretch/>
        </p:blipFill>
        <p:spPr>
          <a:xfrm>
            <a:off x="3215217" y="2864115"/>
            <a:ext cx="254000" cy="152400"/>
          </a:xfrm>
          <a:prstGeom prst="rect">
            <a:avLst/>
          </a:prstGeom>
        </p:spPr>
      </p:pic>
      <p:sp>
        <p:nvSpPr>
          <p:cNvPr id="9" name="Shape 6"/>
          <p:cNvSpPr/>
          <p:nvPr/>
        </p:nvSpPr>
        <p:spPr>
          <a:xfrm>
            <a:off x="3573992" y="2065603"/>
            <a:ext cx="2294467" cy="1749425"/>
          </a:xfrm>
          <a:prstGeom prst="roundRect">
            <a:avLst>
              <a:gd name="adj" fmla="val 7078"/>
            </a:avLst>
          </a:prstGeom>
          <a:solidFill>
            <a:srgbClr val="FCFDFE"/>
          </a:solidFill>
          <a:ln w="6350">
            <a:solidFill>
              <a:srgbClr val="DCE1EA"/>
            </a:solidFill>
            <a:prstDash val="solid"/>
          </a:ln>
        </p:spPr>
      </p:sp>
      <p:sp>
        <p:nvSpPr>
          <p:cNvPr id="10" name="Text 7"/>
          <p:cNvSpPr/>
          <p:nvPr/>
        </p:nvSpPr>
        <p:spPr>
          <a:xfrm>
            <a:off x="3778250" y="2269861"/>
            <a:ext cx="19425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C"/>
                </a:solidFill>
                <a:latin typeface="JetBrains Mono" pitchFamily="49" charset="0"/>
                <a:ea typeface="JetBrains Mono" pitchFamily="49" charset="-122"/>
                <a:cs typeface="JetBrains Mono" pitchFamily="49" charset="-120"/>
              </a:rPr>
              <a:t>llm_processor</a:t>
            </a:r>
            <a:endParaRPr lang="en-US" sz="1200" dirty="0"/>
          </a:p>
        </p:txBody>
      </p:sp>
      <p:sp>
        <p:nvSpPr>
          <p:cNvPr id="11" name="Text 8"/>
          <p:cNvSpPr/>
          <p:nvPr/>
        </p:nvSpPr>
        <p:spPr>
          <a:xfrm>
            <a:off x="3778250" y="2559382"/>
            <a:ext cx="1942529"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92B"/>
                </a:solidFill>
                <a:latin typeface="Bricolage Grotesque" pitchFamily="34" charset="0"/>
                <a:ea typeface="Bricolage Grotesque" pitchFamily="34" charset="-122"/>
                <a:cs typeface="Bricolage Grotesque" pitchFamily="34" charset="-120"/>
              </a:rPr>
              <a:t>Write</a:t>
            </a:r>
            <a:endParaRPr lang="en-US" sz="2200" dirty="0"/>
          </a:p>
        </p:txBody>
      </p:sp>
      <p:sp>
        <p:nvSpPr>
          <p:cNvPr id="12" name="Text 9"/>
          <p:cNvSpPr/>
          <p:nvPr/>
        </p:nvSpPr>
        <p:spPr>
          <a:xfrm>
            <a:off x="3778250" y="2970808"/>
            <a:ext cx="194252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gpt-4o-mini turns the notes into a teaching script</a:t>
            </a:r>
            <a:endParaRPr lang="en-US" sz="1200" dirty="0"/>
          </a:p>
        </p:txBody>
      </p:sp>
      <p:pic>
        <p:nvPicPr>
          <p:cNvPr id="13" name="Image 1" descr="arrow-right">    </p:cNvPr>
          <p:cNvPicPr>
            <a:picLocks noChangeAspect="1"/>
          </p:cNvPicPr>
          <p:nvPr/>
        </p:nvPicPr>
        <p:blipFill>
          <a:blip r:embed="rId2"/>
          <a:srcRect l="0" r="0" t="0" b="0"/>
          <a:stretch/>
        </p:blipFill>
        <p:spPr>
          <a:xfrm>
            <a:off x="5973233" y="2864115"/>
            <a:ext cx="254000" cy="152400"/>
          </a:xfrm>
          <a:prstGeom prst="rect">
            <a:avLst/>
          </a:prstGeom>
        </p:spPr>
      </p:pic>
      <p:sp>
        <p:nvSpPr>
          <p:cNvPr id="14" name="Shape 10"/>
          <p:cNvSpPr/>
          <p:nvPr/>
        </p:nvSpPr>
        <p:spPr>
          <a:xfrm>
            <a:off x="6332008" y="2172230"/>
            <a:ext cx="2294467" cy="1536105"/>
          </a:xfrm>
          <a:prstGeom prst="roundRect">
            <a:avLst>
              <a:gd name="adj" fmla="val 8061"/>
            </a:avLst>
          </a:prstGeom>
          <a:solidFill>
            <a:srgbClr val="FCFDFE"/>
          </a:solidFill>
          <a:ln w="6350">
            <a:solidFill>
              <a:srgbClr val="DCE1EA"/>
            </a:solidFill>
            <a:prstDash val="solid"/>
          </a:ln>
        </p:spPr>
      </p:sp>
      <p:sp>
        <p:nvSpPr>
          <p:cNvPr id="15" name="Text 11"/>
          <p:cNvSpPr/>
          <p:nvPr/>
        </p:nvSpPr>
        <p:spPr>
          <a:xfrm>
            <a:off x="6536267" y="2376488"/>
            <a:ext cx="19425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C"/>
                </a:solidFill>
                <a:latin typeface="JetBrains Mono" pitchFamily="49" charset="0"/>
                <a:ea typeface="JetBrains Mono" pitchFamily="49" charset="-122"/>
                <a:cs typeface="JetBrains Mono" pitchFamily="49" charset="-120"/>
              </a:rPr>
              <a:t>tts_generator</a:t>
            </a:r>
            <a:endParaRPr lang="en-US" sz="1200" dirty="0"/>
          </a:p>
        </p:txBody>
      </p:sp>
      <p:sp>
        <p:nvSpPr>
          <p:cNvPr id="16" name="Text 12"/>
          <p:cNvSpPr/>
          <p:nvPr/>
        </p:nvSpPr>
        <p:spPr>
          <a:xfrm>
            <a:off x="6536267" y="2666008"/>
            <a:ext cx="1942529"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92B"/>
                </a:solidFill>
                <a:latin typeface="Bricolage Grotesque" pitchFamily="34" charset="0"/>
                <a:ea typeface="Bricolage Grotesque" pitchFamily="34" charset="-122"/>
                <a:cs typeface="Bricolage Grotesque" pitchFamily="34" charset="-120"/>
              </a:rPr>
              <a:t>Record</a:t>
            </a:r>
            <a:endParaRPr lang="en-US" sz="2200" dirty="0"/>
          </a:p>
        </p:txBody>
      </p:sp>
      <p:sp>
        <p:nvSpPr>
          <p:cNvPr id="17" name="Text 13"/>
          <p:cNvSpPr/>
          <p:nvPr/>
        </p:nvSpPr>
        <p:spPr>
          <a:xfrm>
            <a:off x="6536267" y="3077435"/>
            <a:ext cx="194252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tts-1 reads the script aloud and saves an mp3</a:t>
            </a:r>
            <a:endParaRPr lang="en-US" sz="1200" dirty="0"/>
          </a:p>
        </p:txBody>
      </p:sp>
      <p:pic>
        <p:nvPicPr>
          <p:cNvPr id="18" name="Image 2" descr="arrow-right">    </p:cNvPr>
          <p:cNvPicPr>
            <a:picLocks noChangeAspect="1"/>
          </p:cNvPicPr>
          <p:nvPr/>
        </p:nvPicPr>
        <p:blipFill>
          <a:blip r:embed="rId3"/>
          <a:srcRect l="0" r="0" t="0" b="0"/>
          <a:stretch/>
        </p:blipFill>
        <p:spPr>
          <a:xfrm>
            <a:off x="8731250" y="2864115"/>
            <a:ext cx="254000" cy="152400"/>
          </a:xfrm>
          <a:prstGeom prst="rect">
            <a:avLst/>
          </a:prstGeom>
        </p:spPr>
      </p:pic>
      <p:sp>
        <p:nvSpPr>
          <p:cNvPr id="19" name="Shape 14"/>
          <p:cNvSpPr/>
          <p:nvPr/>
        </p:nvSpPr>
        <p:spPr>
          <a:xfrm>
            <a:off x="9086850" y="2066661"/>
            <a:ext cx="2292350" cy="1747308"/>
          </a:xfrm>
          <a:prstGeom prst="roundRect">
            <a:avLst>
              <a:gd name="adj" fmla="val 7268"/>
            </a:avLst>
          </a:prstGeom>
          <a:solidFill>
            <a:srgbClr val="15192B"/>
          </a:solidFill>
          <a:ln/>
        </p:spPr>
      </p:sp>
      <p:sp>
        <p:nvSpPr>
          <p:cNvPr id="20" name="Text 15"/>
          <p:cNvSpPr/>
          <p:nvPr/>
        </p:nvSpPr>
        <p:spPr>
          <a:xfrm>
            <a:off x="9290050" y="2269861"/>
            <a:ext cx="19425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9A5E"/>
                </a:solidFill>
                <a:latin typeface="JetBrains Mono" pitchFamily="49" charset="0"/>
                <a:ea typeface="JetBrains Mono" pitchFamily="49" charset="-122"/>
                <a:cs typeface="JetBrains Mono" pitchFamily="49" charset="-120"/>
              </a:rPr>
              <a:t>main</a:t>
            </a:r>
            <a:endParaRPr lang="en-US" sz="1200" dirty="0"/>
          </a:p>
        </p:txBody>
      </p:sp>
      <p:sp>
        <p:nvSpPr>
          <p:cNvPr id="21" name="Text 16"/>
          <p:cNvSpPr/>
          <p:nvPr/>
        </p:nvSpPr>
        <p:spPr>
          <a:xfrm>
            <a:off x="9290050" y="2559382"/>
            <a:ext cx="1942529"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5F9"/>
                </a:solidFill>
                <a:latin typeface="Bricolage Grotesque" pitchFamily="34" charset="0"/>
                <a:ea typeface="Bricolage Grotesque" pitchFamily="34" charset="-122"/>
                <a:cs typeface="Bricolage Grotesque" pitchFamily="34" charset="-120"/>
              </a:rPr>
              <a:t>Play</a:t>
            </a:r>
            <a:endParaRPr lang="en-US" sz="2200" dirty="0"/>
          </a:p>
        </p:txBody>
      </p:sp>
      <p:sp>
        <p:nvSpPr>
          <p:cNvPr id="22" name="Text 17"/>
          <p:cNvSpPr/>
          <p:nvPr/>
        </p:nvSpPr>
        <p:spPr>
          <a:xfrm>
            <a:off x="9290050" y="2970808"/>
            <a:ext cx="194252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C3D3"/>
                </a:solidFill>
                <a:latin typeface="DM Sans" pitchFamily="34" charset="0"/>
                <a:ea typeface="DM Sans" pitchFamily="34" charset="-122"/>
                <a:cs typeface="DM Sans" pitchFamily="34" charset="-120"/>
              </a:rPr>
              <a:t>Gradio app: pick a source and length, listen, download</a:t>
            </a:r>
            <a:endParaRPr lang="en-US" sz="1200" dirty="0"/>
          </a:p>
        </p:txBody>
      </p:sp>
      <p:sp>
        <p:nvSpPr>
          <p:cNvPr id="23" name="Text 18"/>
          <p:cNvSpPr/>
          <p:nvPr/>
        </p:nvSpPr>
        <p:spPr>
          <a:xfrm>
            <a:off x="812800" y="4224603"/>
            <a:ext cx="98107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366"/>
                </a:solidFill>
                <a:latin typeface="DM Sans" pitchFamily="34" charset="0"/>
                <a:ea typeface="DM Sans" pitchFamily="34" charset="-122"/>
                <a:cs typeface="DM Sans" pitchFamily="34" charset="-120"/>
              </a:rPr>
              <a:t>Each teammate owned one module, so we could build in parallel. A short episode takes about </a:t>
            </a:r>
            <a:r>
              <a:rPr lang="en-US" sz="1600" b="1" dirty="0">
                <a:solidFill>
                  <a:srgbClr val="15192B"/>
                </a:solidFill>
                <a:latin typeface="DM Sans" pitchFamily="34" charset="0"/>
                <a:ea typeface="DM Sans" pitchFamily="34" charset="-122"/>
                <a:cs typeface="DM Sans" pitchFamily="34" charset="-120"/>
              </a:rPr>
              <a:t>15 to 25 seconds</a:t>
            </a:r>
            <a:r>
              <a:rPr lang="en-US" sz="1600" dirty="0">
                <a:solidFill>
                  <a:srgbClr val="4A5366"/>
                </a:solidFill>
                <a:latin typeface="DM Sans" pitchFamily="34" charset="0"/>
                <a:ea typeface="DM Sans" pitchFamily="34" charset="-122"/>
                <a:cs typeface="DM Sans" pitchFamily="34" charset="-120"/>
              </a:rPr>
              <a:t> from upload to audio.</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501C"/>
                </a:solidFill>
                <a:latin typeface="JetBrains Mono" pitchFamily="49" charset="0"/>
                <a:ea typeface="JetBrains Mono" pitchFamily="49" charset="-122"/>
                <a:cs typeface="JetBrains Mono" pitchFamily="49" charset="-120"/>
              </a:rPr>
              <a:t>FEATURES</a:t>
            </a:r>
            <a:endParaRPr lang="en-US" sz="1200" dirty="0"/>
          </a:p>
        </p:txBody>
      </p:sp>
      <p:sp>
        <p:nvSpPr>
          <p:cNvPr id="3" name="Text 1"/>
          <p:cNvSpPr/>
          <p:nvPr>
            <p:ph type="title"/>
          </p:nvPr>
        </p:nvSpPr>
        <p:spPr>
          <a:xfrm>
            <a:off x="812800" y="1153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92B"/>
                </a:solidFill>
                <a:latin typeface="Bricolage Grotesque" pitchFamily="34" charset="0"/>
                <a:ea typeface="Bricolage Grotesque" pitchFamily="34" charset="-122"/>
                <a:cs typeface="Bricolage Grotesque" pitchFamily="34" charset="-120"/>
              </a:rPr>
              <a:t>What the app can do</a:t>
            </a:r>
            <a:endParaRPr lang="en-US" sz="3600" dirty="0"/>
          </a:p>
        </p:txBody>
      </p:sp>
      <p:sp>
        <p:nvSpPr>
          <p:cNvPr id="4" name="Shape 2"/>
          <p:cNvSpPr/>
          <p:nvPr/>
        </p:nvSpPr>
        <p:spPr>
          <a:xfrm>
            <a:off x="815975" y="1964003"/>
            <a:ext cx="2520950" cy="1724091"/>
          </a:xfrm>
          <a:prstGeom prst="roundRect">
            <a:avLst>
              <a:gd name="adj" fmla="val 7182"/>
            </a:avLst>
          </a:prstGeom>
          <a:solidFill>
            <a:srgbClr val="FCFDFE"/>
          </a:solidFill>
          <a:ln w="6350">
            <a:solidFill>
              <a:srgbClr val="DCE1EA"/>
            </a:solidFill>
            <a:prstDash val="solid"/>
          </a:ln>
        </p:spPr>
      </p:sp>
      <p:pic>
        <p:nvPicPr>
          <p:cNvPr id="5" name="Image 0" descr="Book">    </p:cNvPr>
          <p:cNvPicPr>
            <a:picLocks noChangeAspect="1"/>
          </p:cNvPicPr>
          <p:nvPr/>
        </p:nvPicPr>
        <p:blipFill>
          <a:blip r:embed="rId1"/>
          <a:srcRect l="0" r="0" t="0" b="0"/>
          <a:stretch/>
        </p:blipFill>
        <p:spPr>
          <a:xfrm>
            <a:off x="1020233" y="2168261"/>
            <a:ext cx="279400" cy="279400"/>
          </a:xfrm>
          <a:prstGeom prst="rect">
            <a:avLst/>
          </a:prstGeom>
        </p:spPr>
      </p:pic>
      <p:sp>
        <p:nvSpPr>
          <p:cNvPr id="6" name="Text 3"/>
          <p:cNvSpPr/>
          <p:nvPr/>
        </p:nvSpPr>
        <p:spPr>
          <a:xfrm>
            <a:off x="1020233" y="2523861"/>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92B"/>
                </a:solidFill>
                <a:latin typeface="Bricolage Grotesque" pitchFamily="34" charset="0"/>
                <a:ea typeface="Bricolage Grotesque" pitchFamily="34" charset="-122"/>
                <a:cs typeface="Bricolage Grotesque" pitchFamily="34" charset="-120"/>
              </a:rPr>
              <a:t>PDF and TXT</a:t>
            </a:r>
            <a:endParaRPr lang="en-US" sz="1600" dirty="0"/>
          </a:p>
        </p:txBody>
      </p:sp>
      <p:sp>
        <p:nvSpPr>
          <p:cNvPr id="7" name="Text 4"/>
          <p:cNvSpPr/>
          <p:nvPr/>
        </p:nvSpPr>
        <p:spPr>
          <a:xfrm>
            <a:off x="1020233" y="2843874"/>
            <a:ext cx="21758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Upload class notes; the text of every page is extracted.</a:t>
            </a:r>
            <a:endParaRPr lang="en-US" sz="1200" dirty="0"/>
          </a:p>
        </p:txBody>
      </p:sp>
      <p:sp>
        <p:nvSpPr>
          <p:cNvPr id="8" name="Shape 5"/>
          <p:cNvSpPr/>
          <p:nvPr/>
        </p:nvSpPr>
        <p:spPr>
          <a:xfrm>
            <a:off x="3495675" y="1964003"/>
            <a:ext cx="2520950" cy="1724091"/>
          </a:xfrm>
          <a:prstGeom prst="roundRect">
            <a:avLst>
              <a:gd name="adj" fmla="val 7182"/>
            </a:avLst>
          </a:prstGeom>
          <a:solidFill>
            <a:srgbClr val="FCFDFE"/>
          </a:solidFill>
          <a:ln w="6350">
            <a:solidFill>
              <a:srgbClr val="DCE1EA"/>
            </a:solidFill>
            <a:prstDash val="solid"/>
          </a:ln>
        </p:spPr>
      </p:sp>
      <p:pic>
        <p:nvPicPr>
          <p:cNvPr id="9" name="Image 1" descr="Globe">    </p:cNvPr>
          <p:cNvPicPr>
            <a:picLocks noChangeAspect="1"/>
          </p:cNvPicPr>
          <p:nvPr/>
        </p:nvPicPr>
        <p:blipFill>
          <a:blip r:embed="rId2"/>
          <a:srcRect l="0" r="0" t="0" b="0"/>
          <a:stretch/>
        </p:blipFill>
        <p:spPr>
          <a:xfrm>
            <a:off x="3699933" y="2168261"/>
            <a:ext cx="279400" cy="279400"/>
          </a:xfrm>
          <a:prstGeom prst="rect">
            <a:avLst/>
          </a:prstGeom>
        </p:spPr>
      </p:pic>
      <p:sp>
        <p:nvSpPr>
          <p:cNvPr id="10" name="Text 6"/>
          <p:cNvSpPr/>
          <p:nvPr/>
        </p:nvSpPr>
        <p:spPr>
          <a:xfrm>
            <a:off x="3699933" y="2523861"/>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92B"/>
                </a:solidFill>
                <a:latin typeface="Bricolage Grotesque" pitchFamily="34" charset="0"/>
                <a:ea typeface="Bricolage Grotesque" pitchFamily="34" charset="-122"/>
                <a:cs typeface="Bricolage Grotesque" pitchFamily="34" charset="-120"/>
              </a:rPr>
              <a:t>Article URLs</a:t>
            </a:r>
            <a:endParaRPr lang="en-US" sz="1600" dirty="0"/>
          </a:p>
        </p:txBody>
      </p:sp>
      <p:sp>
        <p:nvSpPr>
          <p:cNvPr id="11" name="Text 7"/>
          <p:cNvSpPr/>
          <p:nvPr/>
        </p:nvSpPr>
        <p:spPr>
          <a:xfrm>
            <a:off x="3699933" y="2843874"/>
            <a:ext cx="21758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Paste a link; only the article is kept, menus and ads are dropped.</a:t>
            </a:r>
            <a:endParaRPr lang="en-US" sz="1200" dirty="0"/>
          </a:p>
        </p:txBody>
      </p:sp>
      <p:sp>
        <p:nvSpPr>
          <p:cNvPr id="12" name="Shape 8"/>
          <p:cNvSpPr/>
          <p:nvPr/>
        </p:nvSpPr>
        <p:spPr>
          <a:xfrm>
            <a:off x="6175375" y="1964003"/>
            <a:ext cx="2520950" cy="1724091"/>
          </a:xfrm>
          <a:prstGeom prst="roundRect">
            <a:avLst>
              <a:gd name="adj" fmla="val 7182"/>
            </a:avLst>
          </a:prstGeom>
          <a:solidFill>
            <a:srgbClr val="FCFDFE"/>
          </a:solidFill>
          <a:ln w="6350">
            <a:solidFill>
              <a:srgbClr val="DCE1EA"/>
            </a:solidFill>
            <a:prstDash val="solid"/>
          </a:ln>
        </p:spPr>
      </p:sp>
      <p:pic>
        <p:nvPicPr>
          <p:cNvPr id="13" name="Image 2" descr="Wrench">    </p:cNvPr>
          <p:cNvPicPr>
            <a:picLocks noChangeAspect="1"/>
          </p:cNvPicPr>
          <p:nvPr/>
        </p:nvPicPr>
        <p:blipFill>
          <a:blip r:embed="rId3"/>
          <a:srcRect l="0" r="0" t="0" b="0"/>
          <a:stretch/>
        </p:blipFill>
        <p:spPr>
          <a:xfrm>
            <a:off x="6379633" y="2168261"/>
            <a:ext cx="279400" cy="279400"/>
          </a:xfrm>
          <a:prstGeom prst="rect">
            <a:avLst/>
          </a:prstGeom>
        </p:spPr>
      </p:pic>
      <p:sp>
        <p:nvSpPr>
          <p:cNvPr id="14" name="Text 9"/>
          <p:cNvSpPr/>
          <p:nvPr/>
        </p:nvSpPr>
        <p:spPr>
          <a:xfrm>
            <a:off x="6379633" y="2523861"/>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92B"/>
                </a:solidFill>
                <a:latin typeface="Bricolage Grotesque" pitchFamily="34" charset="0"/>
                <a:ea typeface="Bricolage Grotesque" pitchFamily="34" charset="-122"/>
                <a:cs typeface="Bricolage Grotesque" pitchFamily="34" charset="-120"/>
              </a:rPr>
              <a:t>Text cleaning</a:t>
            </a:r>
            <a:endParaRPr lang="en-US" sz="1600" dirty="0"/>
          </a:p>
        </p:txBody>
      </p:sp>
      <p:sp>
        <p:nvSpPr>
          <p:cNvPr id="15" name="Text 10"/>
          <p:cNvSpPr/>
          <p:nvPr/>
        </p:nvSpPr>
        <p:spPr>
          <a:xfrm>
            <a:off x="6379633" y="2843874"/>
            <a:ext cx="21758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Fixes ligatures, odd characters and messy spacing from PDFs.</a:t>
            </a:r>
            <a:endParaRPr lang="en-US" sz="1200" dirty="0"/>
          </a:p>
        </p:txBody>
      </p:sp>
      <p:sp>
        <p:nvSpPr>
          <p:cNvPr id="16" name="Shape 11"/>
          <p:cNvSpPr/>
          <p:nvPr/>
        </p:nvSpPr>
        <p:spPr>
          <a:xfrm>
            <a:off x="8851900" y="1960828"/>
            <a:ext cx="2527300" cy="1730441"/>
          </a:xfrm>
          <a:prstGeom prst="roundRect">
            <a:avLst>
              <a:gd name="adj" fmla="val 7339"/>
            </a:avLst>
          </a:prstGeom>
          <a:solidFill>
            <a:srgbClr val="15192B"/>
          </a:solidFill>
          <a:ln/>
        </p:spPr>
      </p:sp>
      <p:pic>
        <p:nvPicPr>
          <p:cNvPr id="17" name="Image 3" descr="Clock">    </p:cNvPr>
          <p:cNvPicPr>
            <a:picLocks noChangeAspect="1"/>
          </p:cNvPicPr>
          <p:nvPr/>
        </p:nvPicPr>
        <p:blipFill>
          <a:blip r:embed="rId4"/>
          <a:srcRect l="0" r="0" t="0" b="0"/>
          <a:stretch/>
        </p:blipFill>
        <p:spPr>
          <a:xfrm>
            <a:off x="9055100" y="2164028"/>
            <a:ext cx="279400" cy="279400"/>
          </a:xfrm>
          <a:prstGeom prst="rect">
            <a:avLst/>
          </a:prstGeom>
        </p:spPr>
      </p:pic>
      <p:sp>
        <p:nvSpPr>
          <p:cNvPr id="18" name="Text 12"/>
          <p:cNvSpPr/>
          <p:nvPr/>
        </p:nvSpPr>
        <p:spPr>
          <a:xfrm>
            <a:off x="9055100" y="2519628"/>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9"/>
                </a:solidFill>
                <a:latin typeface="Bricolage Grotesque" pitchFamily="34" charset="0"/>
                <a:ea typeface="Bricolage Grotesque" pitchFamily="34" charset="-122"/>
                <a:cs typeface="Bricolage Grotesque" pitchFamily="34" charset="-120"/>
              </a:rPr>
              <a:t>Length selection</a:t>
            </a:r>
            <a:endParaRPr lang="en-US" sz="1600" dirty="0"/>
          </a:p>
        </p:txBody>
      </p:sp>
      <p:sp>
        <p:nvSpPr>
          <p:cNvPr id="19" name="Text 13"/>
          <p:cNvSpPr/>
          <p:nvPr/>
        </p:nvSpPr>
        <p:spPr>
          <a:xfrm>
            <a:off x="9055100" y="2839641"/>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C3D3"/>
                </a:solidFill>
                <a:latin typeface="DM Sans" pitchFamily="34" charset="0"/>
                <a:ea typeface="DM Sans" pitchFamily="34" charset="-122"/>
                <a:cs typeface="DM Sans" pitchFamily="34" charset="-120"/>
              </a:rPr>
              <a:t>Short, Medium or Long: about 3, 15 or 30 minutes.</a:t>
            </a:r>
            <a:endParaRPr lang="en-US" sz="1200" dirty="0"/>
          </a:p>
        </p:txBody>
      </p:sp>
      <p:sp>
        <p:nvSpPr>
          <p:cNvPr id="20" name="Shape 14"/>
          <p:cNvSpPr/>
          <p:nvPr/>
        </p:nvSpPr>
        <p:spPr>
          <a:xfrm>
            <a:off x="815975" y="3846844"/>
            <a:ext cx="2520950" cy="1724091"/>
          </a:xfrm>
          <a:prstGeom prst="roundRect">
            <a:avLst>
              <a:gd name="adj" fmla="val 7182"/>
            </a:avLst>
          </a:prstGeom>
          <a:solidFill>
            <a:srgbClr val="FCFDFE"/>
          </a:solidFill>
          <a:ln w="6350">
            <a:solidFill>
              <a:srgbClr val="DCE1EA"/>
            </a:solidFill>
            <a:prstDash val="solid"/>
          </a:ln>
        </p:spPr>
      </p:sp>
      <p:pic>
        <p:nvPicPr>
          <p:cNvPr id="21" name="Image 4" descr="Lightbulb">    </p:cNvPr>
          <p:cNvPicPr>
            <a:picLocks noChangeAspect="1"/>
          </p:cNvPicPr>
          <p:nvPr/>
        </p:nvPicPr>
        <p:blipFill>
          <a:blip r:embed="rId5"/>
          <a:srcRect l="0" r="0" t="0" b="0"/>
          <a:stretch/>
        </p:blipFill>
        <p:spPr>
          <a:xfrm>
            <a:off x="1020233" y="4051102"/>
            <a:ext cx="279400" cy="279400"/>
          </a:xfrm>
          <a:prstGeom prst="rect">
            <a:avLst/>
          </a:prstGeom>
        </p:spPr>
      </p:pic>
      <p:sp>
        <p:nvSpPr>
          <p:cNvPr id="22" name="Text 15"/>
          <p:cNvSpPr/>
          <p:nvPr/>
        </p:nvSpPr>
        <p:spPr>
          <a:xfrm>
            <a:off x="1020233" y="4406702"/>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92B"/>
                </a:solidFill>
                <a:latin typeface="Bricolage Grotesque" pitchFamily="34" charset="0"/>
                <a:ea typeface="Bricolage Grotesque" pitchFamily="34" charset="-122"/>
                <a:cs typeface="Bricolage Grotesque" pitchFamily="34" charset="-120"/>
              </a:rPr>
              <a:t>Part-by-part</a:t>
            </a:r>
            <a:endParaRPr lang="en-US" sz="1600" dirty="0"/>
          </a:p>
        </p:txBody>
      </p:sp>
      <p:sp>
        <p:nvSpPr>
          <p:cNvPr id="23" name="Text 16"/>
          <p:cNvSpPr/>
          <p:nvPr/>
        </p:nvSpPr>
        <p:spPr>
          <a:xfrm>
            <a:off x="1020233" y="4726716"/>
            <a:ext cx="21758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Long episodes: outline first, then each part, so nothing stops early.</a:t>
            </a:r>
            <a:endParaRPr lang="en-US" sz="1200" dirty="0"/>
          </a:p>
        </p:txBody>
      </p:sp>
      <p:sp>
        <p:nvSpPr>
          <p:cNvPr id="24" name="Shape 17"/>
          <p:cNvSpPr/>
          <p:nvPr/>
        </p:nvSpPr>
        <p:spPr>
          <a:xfrm>
            <a:off x="3492500" y="3843669"/>
            <a:ext cx="2527300" cy="1730441"/>
          </a:xfrm>
          <a:prstGeom prst="roundRect">
            <a:avLst>
              <a:gd name="adj" fmla="val 7339"/>
            </a:avLst>
          </a:prstGeom>
          <a:solidFill>
            <a:srgbClr val="15192B"/>
          </a:solidFill>
          <a:ln/>
        </p:spPr>
      </p:sp>
      <p:pic>
        <p:nvPicPr>
          <p:cNvPr id="25" name="Image 5" descr="Lightning">    </p:cNvPr>
          <p:cNvPicPr>
            <a:picLocks noChangeAspect="1"/>
          </p:cNvPicPr>
          <p:nvPr/>
        </p:nvPicPr>
        <p:blipFill>
          <a:blip r:embed="rId6"/>
          <a:srcRect l="0" r="0" t="0" b="0"/>
          <a:stretch/>
        </p:blipFill>
        <p:spPr>
          <a:xfrm>
            <a:off x="3695700" y="4046869"/>
            <a:ext cx="279400" cy="279400"/>
          </a:xfrm>
          <a:prstGeom prst="rect">
            <a:avLst/>
          </a:prstGeom>
        </p:spPr>
      </p:pic>
      <p:sp>
        <p:nvSpPr>
          <p:cNvPr id="26" name="Text 18"/>
          <p:cNvSpPr/>
          <p:nvPr/>
        </p:nvSpPr>
        <p:spPr>
          <a:xfrm>
            <a:off x="3695700" y="4402469"/>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9"/>
                </a:solidFill>
                <a:latin typeface="Bricolage Grotesque" pitchFamily="34" charset="0"/>
                <a:ea typeface="Bricolage Grotesque" pitchFamily="34" charset="-122"/>
                <a:cs typeface="Bricolage Grotesque" pitchFamily="34" charset="-120"/>
              </a:rPr>
              <a:t>Audio chunking</a:t>
            </a:r>
            <a:endParaRPr lang="en-US" sz="1600" dirty="0"/>
          </a:p>
        </p:txBody>
      </p:sp>
      <p:sp>
        <p:nvSpPr>
          <p:cNvPr id="27" name="Text 19"/>
          <p:cNvSpPr/>
          <p:nvPr/>
        </p:nvSpPr>
        <p:spPr>
          <a:xfrm>
            <a:off x="3695700" y="4722482"/>
            <a:ext cx="21845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C3D3"/>
                </a:solidFill>
                <a:latin typeface="DM Sans" pitchFamily="34" charset="0"/>
                <a:ea typeface="DM Sans" pitchFamily="34" charset="-122"/>
                <a:cs typeface="DM Sans" pitchFamily="34" charset="-120"/>
              </a:rPr>
              <a:t>Pieces under 4,000 characters, recorded 4 at a time, joined into one mp3.</a:t>
            </a:r>
            <a:endParaRPr lang="en-US" sz="1200" dirty="0"/>
          </a:p>
        </p:txBody>
      </p:sp>
      <p:sp>
        <p:nvSpPr>
          <p:cNvPr id="28" name="Shape 20"/>
          <p:cNvSpPr/>
          <p:nvPr/>
        </p:nvSpPr>
        <p:spPr>
          <a:xfrm>
            <a:off x="6175375" y="3846844"/>
            <a:ext cx="2520950" cy="1724091"/>
          </a:xfrm>
          <a:prstGeom prst="roundRect">
            <a:avLst>
              <a:gd name="adj" fmla="val 7182"/>
            </a:avLst>
          </a:prstGeom>
          <a:solidFill>
            <a:srgbClr val="FCFDFE"/>
          </a:solidFill>
          <a:ln w="6350">
            <a:solidFill>
              <a:srgbClr val="DCE1EA"/>
            </a:solidFill>
            <a:prstDash val="solid"/>
          </a:ln>
        </p:spPr>
      </p:sp>
      <p:pic>
        <p:nvPicPr>
          <p:cNvPr id="29" name="Image 6" descr="Database">    </p:cNvPr>
          <p:cNvPicPr>
            <a:picLocks noChangeAspect="1"/>
          </p:cNvPicPr>
          <p:nvPr/>
        </p:nvPicPr>
        <p:blipFill>
          <a:blip r:embed="rId7"/>
          <a:srcRect l="0" r="0" t="0" b="0"/>
          <a:stretch/>
        </p:blipFill>
        <p:spPr>
          <a:xfrm>
            <a:off x="6379633" y="4051102"/>
            <a:ext cx="279400" cy="279400"/>
          </a:xfrm>
          <a:prstGeom prst="rect">
            <a:avLst/>
          </a:prstGeom>
        </p:spPr>
      </p:pic>
      <p:sp>
        <p:nvSpPr>
          <p:cNvPr id="30" name="Text 21"/>
          <p:cNvSpPr/>
          <p:nvPr/>
        </p:nvSpPr>
        <p:spPr>
          <a:xfrm>
            <a:off x="6379633" y="4406702"/>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92B"/>
                </a:solidFill>
                <a:latin typeface="Bricolage Grotesque" pitchFamily="34" charset="0"/>
                <a:ea typeface="Bricolage Grotesque" pitchFamily="34" charset="-122"/>
                <a:cs typeface="Bricolage Grotesque" pitchFamily="34" charset="-120"/>
              </a:rPr>
              <a:t>Save + download</a:t>
            </a:r>
            <a:endParaRPr lang="en-US" sz="1600" dirty="0"/>
          </a:p>
        </p:txBody>
      </p:sp>
      <p:sp>
        <p:nvSpPr>
          <p:cNvPr id="31" name="Text 22"/>
          <p:cNvSpPr/>
          <p:nvPr/>
        </p:nvSpPr>
        <p:spPr>
          <a:xfrm>
            <a:off x="6379633" y="4726716"/>
            <a:ext cx="21758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Every episode gets its own mp3 and script. The script is kept even if audio fails.</a:t>
            </a:r>
            <a:endParaRPr lang="en-US" sz="1200" dirty="0"/>
          </a:p>
        </p:txBody>
      </p:sp>
      <p:sp>
        <p:nvSpPr>
          <p:cNvPr id="32" name="Shape 23"/>
          <p:cNvSpPr/>
          <p:nvPr/>
        </p:nvSpPr>
        <p:spPr>
          <a:xfrm>
            <a:off x="8855075" y="3846844"/>
            <a:ext cx="2520950" cy="1724091"/>
          </a:xfrm>
          <a:prstGeom prst="roundRect">
            <a:avLst>
              <a:gd name="adj" fmla="val 7182"/>
            </a:avLst>
          </a:prstGeom>
          <a:solidFill>
            <a:srgbClr val="FCFDFE"/>
          </a:solidFill>
          <a:ln w="6350">
            <a:solidFill>
              <a:srgbClr val="DCE1EA"/>
            </a:solidFill>
            <a:prstDash val="solid"/>
          </a:ln>
        </p:spPr>
      </p:sp>
      <p:pic>
        <p:nvPicPr>
          <p:cNvPr id="33" name="Image 7" descr="Warning">    </p:cNvPr>
          <p:cNvPicPr>
            <a:picLocks noChangeAspect="1"/>
          </p:cNvPicPr>
          <p:nvPr/>
        </p:nvPicPr>
        <p:blipFill>
          <a:blip r:embed="rId8"/>
          <a:srcRect l="0" r="0" t="0" b="0"/>
          <a:stretch/>
        </p:blipFill>
        <p:spPr>
          <a:xfrm>
            <a:off x="9059334" y="4051102"/>
            <a:ext cx="279400" cy="279400"/>
          </a:xfrm>
          <a:prstGeom prst="rect">
            <a:avLst/>
          </a:prstGeom>
        </p:spPr>
      </p:pic>
      <p:sp>
        <p:nvSpPr>
          <p:cNvPr id="34" name="Text 24"/>
          <p:cNvSpPr/>
          <p:nvPr/>
        </p:nvSpPr>
        <p:spPr>
          <a:xfrm>
            <a:off x="9059334" y="4406702"/>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92B"/>
                </a:solidFill>
                <a:latin typeface="Bricolage Grotesque" pitchFamily="34" charset="0"/>
                <a:ea typeface="Bricolage Grotesque" pitchFamily="34" charset="-122"/>
                <a:cs typeface="Bricolage Grotesque" pitchFamily="34" charset="-120"/>
              </a:rPr>
              <a:t>Clear errors</a:t>
            </a:r>
            <a:endParaRPr lang="en-US" sz="1600" dirty="0"/>
          </a:p>
        </p:txBody>
      </p:sp>
      <p:sp>
        <p:nvSpPr>
          <p:cNvPr id="35" name="Text 25"/>
          <p:cNvSpPr/>
          <p:nvPr/>
        </p:nvSpPr>
        <p:spPr>
          <a:xfrm>
            <a:off x="9059334" y="4726716"/>
            <a:ext cx="21758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Scanned PDF, paywall, timeout: the app says what went wrong.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501C"/>
                </a:solidFill>
                <a:latin typeface="JetBrains Mono" pitchFamily="49" charset="0"/>
                <a:ea typeface="JetBrains Mono" pitchFamily="49" charset="-122"/>
                <a:cs typeface="JetBrains Mono" pitchFamily="49" charset="-120"/>
              </a:rPr>
              <a:t>THE SCRIPT ENGINE</a:t>
            </a:r>
            <a:endParaRPr lang="en-US" sz="1200" dirty="0"/>
          </a:p>
        </p:txBody>
      </p:sp>
      <p:sp>
        <p:nvSpPr>
          <p:cNvPr id="3" name="Text 1"/>
          <p:cNvSpPr/>
          <p:nvPr>
            <p:ph type="title"/>
          </p:nvPr>
        </p:nvSpPr>
        <p:spPr>
          <a:xfrm>
            <a:off x="812800" y="1153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92B"/>
                </a:solidFill>
                <a:latin typeface="Bricolage Grotesque" pitchFamily="34" charset="0"/>
                <a:ea typeface="Bricolage Grotesque" pitchFamily="34" charset="-122"/>
                <a:cs typeface="Bricolage Grotesque" pitchFamily="34" charset="-120"/>
              </a:rPr>
              <a:t>A prompt written for our class</a:t>
            </a:r>
            <a:endParaRPr lang="en-US" sz="3600" dirty="0"/>
          </a:p>
        </p:txBody>
      </p:sp>
      <p:sp>
        <p:nvSpPr>
          <p:cNvPr id="4" name="Text 2"/>
          <p:cNvSpPr/>
          <p:nvPr/>
        </p:nvSpPr>
        <p:spPr>
          <a:xfrm>
            <a:off x="812800" y="2011629"/>
            <a:ext cx="523240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92B"/>
                </a:solidFill>
                <a:latin typeface="Bricolage Grotesque" pitchFamily="34" charset="0"/>
                <a:ea typeface="Bricolage Grotesque" pitchFamily="34" charset="-122"/>
                <a:cs typeface="Bricolage Grotesque" pitchFamily="34" charset="-120"/>
              </a:rPr>
              <a:t>Meet Sam, the host</a:t>
            </a:r>
            <a:endParaRPr lang="en-US" sz="2200" dirty="0"/>
          </a:p>
        </p:txBody>
      </p:sp>
      <p:sp>
        <p:nvSpPr>
          <p:cNvPr id="5" name="Text 3"/>
          <p:cNvSpPr/>
          <p:nvPr/>
        </p:nvSpPr>
        <p:spPr>
          <a:xfrm>
            <a:off x="876808" y="2499255"/>
            <a:ext cx="5160772" cy="1163108"/>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4A5366"/>
                </a:solidFill>
                <a:latin typeface="DM Sans" pitchFamily="34" charset="0"/>
                <a:ea typeface="DM Sans" pitchFamily="34" charset="-122"/>
                <a:cs typeface="DM Sans" pitchFamily="34" charset="-120"/>
              </a:rPr>
              <a:t>Instructor and AI consultant, talks to "you"</a:t>
            </a:r>
            <a:endParaRPr lang="en-US" sz="1600" dirty="0"/>
          </a:p>
          <a:p>
            <a:pPr algn="l" marL="189992" indent="-189992">
              <a:lnSpc>
                <a:spcPts val="2240"/>
              </a:lnSpc>
              <a:buSzPct val="100000"/>
              <a:buChar char="•"/>
            </a:pPr>
            <a:r>
              <a:rPr lang="en-US" sz="1600" dirty="0">
                <a:solidFill>
                  <a:srgbClr val="4A5366"/>
                </a:solidFill>
                <a:latin typeface="DM Sans" pitchFamily="34" charset="0"/>
                <a:ea typeface="DM Sans" pitchFamily="34" charset="-122"/>
                <a:cs typeface="DM Sans" pitchFamily="34" charset="-120"/>
              </a:rPr>
              <a:t>Explains the why, keeps the real terms</a:t>
            </a:r>
            <a:endParaRPr lang="en-US" sz="1600" dirty="0"/>
          </a:p>
          <a:p>
            <a:pPr algn="l" marL="189992" indent="-189992">
              <a:lnSpc>
                <a:spcPts val="2240"/>
              </a:lnSpc>
              <a:buSzPct val="100000"/>
              <a:buChar char="•"/>
            </a:pPr>
            <a:r>
              <a:rPr lang="en-US" sz="1600" dirty="0">
                <a:solidFill>
                  <a:srgbClr val="4A5366"/>
                </a:solidFill>
                <a:latin typeface="DM Sans" pitchFamily="34" charset="0"/>
                <a:ea typeface="DM Sans" pitchFamily="34" charset="-122"/>
                <a:cs typeface="DM Sans" pitchFamily="34" charset="-120"/>
              </a:rPr>
              <a:t>Links every idea to consulting work</a:t>
            </a:r>
            <a:endParaRPr lang="en-US" sz="1600" dirty="0"/>
          </a:p>
          <a:p>
            <a:pPr algn="l" marL="189992" indent="-189992">
              <a:lnSpc>
                <a:spcPts val="2240"/>
              </a:lnSpc>
              <a:buSzPct val="100000"/>
              <a:buChar char="•"/>
            </a:pPr>
            <a:r>
              <a:rPr lang="en-US" sz="1600" dirty="0">
                <a:solidFill>
                  <a:srgbClr val="4A5366"/>
                </a:solidFill>
                <a:latin typeface="DM Sans" pitchFamily="34" charset="0"/>
                <a:ea typeface="DM Sans" pitchFamily="34" charset="-122"/>
                <a:cs typeface="DM Sans" pitchFamily="34" charset="-120"/>
              </a:rPr>
              <a:t>Skips PDF clutter, never invents facts</a:t>
            </a:r>
            <a:endParaRPr lang="en-US" sz="1600" dirty="0"/>
          </a:p>
        </p:txBody>
      </p:sp>
      <p:sp>
        <p:nvSpPr>
          <p:cNvPr id="6" name="Text 4"/>
          <p:cNvSpPr/>
          <p:nvPr/>
        </p:nvSpPr>
        <p:spPr>
          <a:xfrm>
            <a:off x="6299200" y="2011629"/>
            <a:ext cx="523240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92B"/>
                </a:solidFill>
                <a:latin typeface="Bricolage Grotesque" pitchFamily="34" charset="0"/>
                <a:ea typeface="Bricolage Grotesque" pitchFamily="34" charset="-122"/>
                <a:cs typeface="Bricolage Grotesque" pitchFamily="34" charset="-120"/>
              </a:rPr>
              <a:t>You pick the length</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11900" y="2511955"/>
          <a:ext cx="5067300" cy="1757363"/>
        </p:xfrm>
        <a:graphic>
          <a:graphicData uri="http://schemas.openxmlformats.org/drawingml/2006/table">
            <a:tbl>
              <a:tblPr/>
              <a:tblGrid>
                <a:gridCol w="1722882"/>
                <a:gridCol w="1672209"/>
                <a:gridCol w="1672209"/>
              </a:tblGrid>
              <a:tr h="439341">
                <a:tc>
                  <a:txBody>
                    <a:bodyPr/>
                    <a:lstStyle/>
                    <a:p>
                      <a:pPr indent="0" marL="0">
                        <a:lnSpc>
                          <a:spcPts val="2240"/>
                        </a:lnSpc>
                        <a:buNone/>
                      </a:pPr>
                      <a:r>
                        <a:rPr lang="en-US" sz="1600" b="1" dirty="0">
                          <a:solidFill>
                            <a:srgbClr val="15192B"/>
                          </a:solidFill>
                          <a:latin typeface="DM Sans" pitchFamily="34" charset="0"/>
                          <a:ea typeface="DM Sans" pitchFamily="34" charset="-122"/>
                          <a:cs typeface="DM Sans" pitchFamily="34" charset="-120"/>
                        </a:rPr>
                        <a:t>Length</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B4B5B8"/>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B4B5B8"/>
                      </a:solidFill>
                      <a:prstDash val="solid"/>
                      <a:round/>
                      <a:headEnd type="none" w="med" len="med"/>
                      <a:tailEnd type="none" w="med" len="med"/>
                    </a:lnB>
                    <a:solidFill>
                      <a:srgbClr val="E1E3E7"/>
                    </a:solidFill>
                  </a:tcPr>
                </a:tc>
                <a:tc>
                  <a:txBody>
                    <a:bodyPr/>
                    <a:lstStyle/>
                    <a:p>
                      <a:pPr algn="r" indent="0" marL="0">
                        <a:lnSpc>
                          <a:spcPts val="2240"/>
                        </a:lnSpc>
                        <a:buNone/>
                      </a:pPr>
                      <a:r>
                        <a:rPr lang="en-US" sz="1600" b="1" dirty="0">
                          <a:solidFill>
                            <a:srgbClr val="15192B"/>
                          </a:solidFill>
                          <a:latin typeface="DM Sans" pitchFamily="34" charset="0"/>
                          <a:ea typeface="DM Sans" pitchFamily="34" charset="-122"/>
                          <a:cs typeface="DM Sans" pitchFamily="34" charset="-120"/>
                        </a:rPr>
                        <a:t>Words</a:t>
                      </a:r>
                      <a:endParaRPr lang="en-US" sz="1600" dirty="0">
                        <a:latin typeface="DM Sans" charset="0"/>
                        <a:ea typeface="DM Sans" charset="0"/>
                        <a:cs typeface="DM Sans" charset="0"/>
                      </a:endParaRPr>
                    </a:p>
                  </a:txBody>
                  <a:tcPr marL="71120" marR="71120" marT="71120" marB="7112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B4B5B8"/>
                      </a:solidFill>
                      <a:prstDash val="solid"/>
                      <a:round/>
                      <a:headEnd type="none" w="med" len="med"/>
                      <a:tailEnd type="none" w="med" len="med"/>
                    </a:lnB>
                    <a:solidFill>
                      <a:srgbClr val="E1E3E7"/>
                    </a:solidFill>
                  </a:tcPr>
                </a:tc>
                <a:tc>
                  <a:txBody>
                    <a:bodyPr/>
                    <a:lstStyle/>
                    <a:p>
                      <a:pPr algn="r" indent="0" marL="0">
                        <a:lnSpc>
                          <a:spcPts val="2240"/>
                        </a:lnSpc>
                        <a:buNone/>
                      </a:pPr>
                      <a:r>
                        <a:rPr lang="en-US" sz="1600" b="1" dirty="0">
                          <a:solidFill>
                            <a:srgbClr val="15192B"/>
                          </a:solidFill>
                          <a:latin typeface="DM Sans" pitchFamily="34" charset="0"/>
                          <a:ea typeface="DM Sans" pitchFamily="34" charset="-122"/>
                          <a:cs typeface="DM Sans" pitchFamily="34" charset="-120"/>
                        </a:rPr>
                        <a:t>Parts</a:t>
                      </a:r>
                      <a:endParaRPr lang="en-US" sz="1600" dirty="0">
                        <a:latin typeface="DM Sans" charset="0"/>
                        <a:ea typeface="DM Sans" charset="0"/>
                        <a:cs typeface="DM Sans" charset="0"/>
                      </a:endParaRPr>
                    </a:p>
                  </a:txBody>
                  <a:tcPr marL="71120" marR="71120" marT="71120" marB="7112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B4B5B8"/>
                      </a:solidFill>
                      <a:prstDash val="solid"/>
                      <a:round/>
                      <a:headEnd type="none" w="med" len="med"/>
                      <a:tailEnd type="none" w="med" len="med"/>
                    </a:lnB>
                    <a:solidFill>
                      <a:srgbClr val="E1E3E7"/>
                    </a:solidFill>
                  </a:tcPr>
                </a:tc>
              </a:tr>
              <a:tr h="439341">
                <a:tc>
                  <a:txBody>
                    <a:bodyPr/>
                    <a:lstStyle/>
                    <a:p>
                      <a:pPr indent="0" marL="0">
                        <a:lnSpc>
                          <a:spcPts val="2240"/>
                        </a:lnSpc>
                        <a:buNone/>
                      </a:pPr>
                      <a:r>
                        <a:rPr lang="en-US" sz="1600" dirty="0">
                          <a:solidFill>
                            <a:srgbClr val="15192B"/>
                          </a:solidFill>
                          <a:latin typeface="DM Sans" pitchFamily="34" charset="0"/>
                          <a:ea typeface="DM Sans" pitchFamily="34" charset="-122"/>
                          <a:cs typeface="DM Sans" pitchFamily="34" charset="-120"/>
                        </a:rPr>
                        <a:t>Short, 3 min</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c>
                  <a:txBody>
                    <a:bodyPr/>
                    <a:lstStyle/>
                    <a:p>
                      <a:pPr algn="r" indent="0" marL="0">
                        <a:lnSpc>
                          <a:spcPts val="2240"/>
                        </a:lnSpc>
                        <a:buNone/>
                      </a:pPr>
                      <a:r>
                        <a:rPr lang="en-US" sz="1600" dirty="0">
                          <a:solidFill>
                            <a:srgbClr val="15192B"/>
                          </a:solidFill>
                          <a:latin typeface="DM Sans" pitchFamily="34" charset="0"/>
                          <a:ea typeface="DM Sans" pitchFamily="34" charset="-122"/>
                          <a:cs typeface="DM Sans" pitchFamily="34" charset="-120"/>
                        </a:rPr>
                        <a:t>450</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c>
                  <a:txBody>
                    <a:bodyPr/>
                    <a:lstStyle/>
                    <a:p>
                      <a:pPr algn="r" indent="0" marL="0">
                        <a:lnSpc>
                          <a:spcPts val="2240"/>
                        </a:lnSpc>
                        <a:buNone/>
                      </a:pPr>
                      <a:r>
                        <a:rPr lang="en-US" sz="1600" dirty="0">
                          <a:solidFill>
                            <a:srgbClr val="15192B"/>
                          </a:solidFill>
                          <a:latin typeface="DM Sans" pitchFamily="34" charset="0"/>
                          <a:ea typeface="DM Sans" pitchFamily="34" charset="-122"/>
                          <a:cs typeface="DM Sans" pitchFamily="34" charset="-120"/>
                        </a:rPr>
                        <a:t>1</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r>
              <a:tr h="439341">
                <a:tc>
                  <a:txBody>
                    <a:bodyPr/>
                    <a:lstStyle/>
                    <a:p>
                      <a:pPr indent="0" marL="0">
                        <a:lnSpc>
                          <a:spcPts val="2240"/>
                        </a:lnSpc>
                        <a:buNone/>
                      </a:pPr>
                      <a:r>
                        <a:rPr lang="en-US" sz="1600" dirty="0">
                          <a:solidFill>
                            <a:srgbClr val="15192B"/>
                          </a:solidFill>
                          <a:latin typeface="DM Sans" pitchFamily="34" charset="0"/>
                          <a:ea typeface="DM Sans" pitchFamily="34" charset="-122"/>
                          <a:cs typeface="DM Sans" pitchFamily="34" charset="-120"/>
                        </a:rPr>
                        <a:t>Medium, 15 min</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c>
                  <a:txBody>
                    <a:bodyPr/>
                    <a:lstStyle/>
                    <a:p>
                      <a:pPr algn="r" indent="0" marL="0">
                        <a:lnSpc>
                          <a:spcPts val="2240"/>
                        </a:lnSpc>
                        <a:buNone/>
                      </a:pPr>
                      <a:r>
                        <a:rPr lang="en-US" sz="1600" dirty="0">
                          <a:solidFill>
                            <a:srgbClr val="15192B"/>
                          </a:solidFill>
                          <a:latin typeface="DM Sans" pitchFamily="34" charset="0"/>
                          <a:ea typeface="DM Sans" pitchFamily="34" charset="-122"/>
                          <a:cs typeface="DM Sans" pitchFamily="34" charset="-120"/>
                        </a:rPr>
                        <a:t>2,250</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c>
                  <a:txBody>
                    <a:bodyPr/>
                    <a:lstStyle/>
                    <a:p>
                      <a:pPr algn="r" indent="0" marL="0">
                        <a:lnSpc>
                          <a:spcPts val="2240"/>
                        </a:lnSpc>
                        <a:buNone/>
                      </a:pPr>
                      <a:r>
                        <a:rPr lang="en-US" sz="1600" dirty="0">
                          <a:solidFill>
                            <a:srgbClr val="15192B"/>
                          </a:solidFill>
                          <a:latin typeface="DM Sans" pitchFamily="34" charset="0"/>
                          <a:ea typeface="DM Sans" pitchFamily="34" charset="-122"/>
                          <a:cs typeface="DM Sans" pitchFamily="34" charset="-120"/>
                        </a:rPr>
                        <a:t>4</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r>
              <a:tr h="439341">
                <a:tc>
                  <a:txBody>
                    <a:bodyPr/>
                    <a:lstStyle/>
                    <a:p>
                      <a:pPr indent="0" marL="0">
                        <a:lnSpc>
                          <a:spcPts val="2240"/>
                        </a:lnSpc>
                        <a:buNone/>
                      </a:pPr>
                      <a:r>
                        <a:rPr lang="en-US" sz="1600" dirty="0">
                          <a:solidFill>
                            <a:srgbClr val="15192B"/>
                          </a:solidFill>
                          <a:latin typeface="DM Sans" pitchFamily="34" charset="0"/>
                          <a:ea typeface="DM Sans" pitchFamily="34" charset="-122"/>
                          <a:cs typeface="DM Sans" pitchFamily="34" charset="-120"/>
                        </a:rPr>
                        <a:t>Long, 30 min</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c>
                  <a:txBody>
                    <a:bodyPr/>
                    <a:lstStyle/>
                    <a:p>
                      <a:pPr algn="r" indent="0" marL="0">
                        <a:lnSpc>
                          <a:spcPts val="2240"/>
                        </a:lnSpc>
                        <a:buNone/>
                      </a:pPr>
                      <a:r>
                        <a:rPr lang="en-US" sz="1600" dirty="0">
                          <a:solidFill>
                            <a:srgbClr val="15192B"/>
                          </a:solidFill>
                          <a:latin typeface="DM Sans" pitchFamily="34" charset="0"/>
                          <a:ea typeface="DM Sans" pitchFamily="34" charset="-122"/>
                          <a:cs typeface="DM Sans" pitchFamily="34" charset="-120"/>
                        </a:rPr>
                        <a:t>4,500</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c>
                  <a:txBody>
                    <a:bodyPr/>
                    <a:lstStyle/>
                    <a:p>
                      <a:pPr algn="r" indent="0" marL="0">
                        <a:lnSpc>
                          <a:spcPts val="2240"/>
                        </a:lnSpc>
                        <a:buNone/>
                      </a:pPr>
                      <a:r>
                        <a:rPr lang="en-US" sz="1600" dirty="0">
                          <a:solidFill>
                            <a:srgbClr val="15192B"/>
                          </a:solidFill>
                          <a:latin typeface="DM Sans" pitchFamily="34" charset="0"/>
                          <a:ea typeface="DM Sans" pitchFamily="34" charset="-122"/>
                          <a:cs typeface="DM Sans" pitchFamily="34" charset="-120"/>
                        </a:rPr>
                        <a:t>8</a:t>
                      </a:r>
                      <a:endParaRPr lang="en-US" sz="1600" dirty="0">
                        <a:latin typeface="DM Sans" charset="0"/>
                        <a:ea typeface="DM Sans" charset="0"/>
                        <a:cs typeface="DM Sans" charset="0"/>
                      </a:endParaRPr>
                    </a:p>
                  </a:txBody>
                  <a:tcPr marL="71120" marR="71120" marT="71120" marB="7112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2C4C6"/>
                      </a:solidFill>
                      <a:prstDash val="solid"/>
                      <a:round/>
                      <a:headEnd type="none" w="med" len="med"/>
                      <a:tailEnd type="none" w="med" len="med"/>
                    </a:lnB>
                  </a:tcPr>
                </a:tc>
              </a:tr>
            </a:tbl>
          </a:graphicData>
        </a:graphic>
      </p:graphicFrame>
      <p:sp>
        <p:nvSpPr>
          <p:cNvPr id="8" name="Text 5"/>
          <p:cNvSpPr/>
          <p:nvPr/>
        </p:nvSpPr>
        <p:spPr>
          <a:xfrm>
            <a:off x="6299200" y="4421718"/>
            <a:ext cx="5232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DM Sans" pitchFamily="34" charset="0"/>
                <a:ea typeface="DM Sans" pitchFamily="34" charset="-122"/>
                <a:cs typeface="DM Sans" pitchFamily="34" charset="-120"/>
              </a:rPr>
              <a:t>Long episodes are planned as an outline, then written part by part. Test run: medium gave 2,258 words and 14.6 minutes of audio.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9A5E"/>
        </a:solidFill>
      </p:bgPr>
    </p:bg>
    <p:spTree>
      <p:nvGrpSpPr>
        <p:cNvPr id="1" name=""/>
        <p:cNvGrpSpPr/>
        <p:nvPr/>
      </p:nvGrpSpPr>
      <p:grpSpPr>
        <a:xfrm>
          <a:off x="0" y="0"/>
          <a:ext cx="0" cy="0"/>
          <a:chOff x="0" y="0"/>
          <a:chExt cx="0" cy="0"/>
        </a:xfrm>
      </p:grpSpPr>
      <p:sp>
        <p:nvSpPr>
          <p:cNvPr id="2" name="Text 0"/>
          <p:cNvSpPr/>
          <p:nvPr/>
        </p:nvSpPr>
        <p:spPr>
          <a:xfrm>
            <a:off x="812800" y="1838989"/>
            <a:ext cx="423824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192B"/>
                </a:solidFill>
                <a:latin typeface="JetBrains Mono" pitchFamily="49" charset="0"/>
                <a:ea typeface="JetBrains Mono" pitchFamily="49" charset="-122"/>
                <a:cs typeface="JetBrains Mono" pitchFamily="49" charset="-120"/>
              </a:rPr>
              <a:t>LIVE DEMO · 2 MINUTES</a:t>
            </a:r>
            <a:endParaRPr lang="en-US" sz="1200" dirty="0"/>
          </a:p>
        </p:txBody>
      </p:sp>
      <p:sp>
        <p:nvSpPr>
          <p:cNvPr id="3" name="Text 1"/>
          <p:cNvSpPr/>
          <p:nvPr>
            <p:ph type="title"/>
          </p:nvPr>
        </p:nvSpPr>
        <p:spPr>
          <a:xfrm>
            <a:off x="812800" y="2179309"/>
            <a:ext cx="4238244" cy="985441"/>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5192B"/>
                </a:solidFill>
                <a:latin typeface="Bricolage Grotesque" pitchFamily="34" charset="0"/>
                <a:ea typeface="Bricolage Grotesque" pitchFamily="34" charset="-122"/>
                <a:cs typeface="Bricolage Grotesque" pitchFamily="34" charset="-120"/>
              </a:rPr>
              <a:t>Let's make an episode</a:t>
            </a:r>
            <a:endParaRPr lang="en-US" sz="3600" dirty="0"/>
          </a:p>
        </p:txBody>
      </p:sp>
      <p:sp>
        <p:nvSpPr>
          <p:cNvPr id="4" name="Text 2"/>
          <p:cNvSpPr/>
          <p:nvPr/>
        </p:nvSpPr>
        <p:spPr>
          <a:xfrm>
            <a:off x="812800" y="3393349"/>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15192B"/>
          </a:solidFill>
          <a:ln/>
        </p:spPr>
        <p:txBody>
          <a:bodyPr wrap="square" lIns="0" tIns="0" rIns="0" bIns="0" rtlCol="0" anchor="t">
            <a:normAutofit/>
          </a:bodyPr>
          <a:lstStyle/>
          <a:p>
            <a:pPr algn="ctr" indent="0" marL="0">
              <a:lnSpc>
                <a:spcPts val="3520"/>
              </a:lnSpc>
              <a:buNone/>
            </a:pPr>
            <a:r>
              <a:rPr lang="en-US" sz="2200" b="1" dirty="0">
                <a:solidFill>
                  <a:srgbClr val="F29A5E"/>
                </a:solidFill>
                <a:latin typeface="Bricolage Grotesque" pitchFamily="34" charset="0"/>
                <a:ea typeface="Bricolage Grotesque" pitchFamily="34" charset="-122"/>
                <a:cs typeface="Bricolage Grotesque" pitchFamily="34" charset="-120"/>
              </a:rPr>
              <a:t>1</a:t>
            </a:r>
            <a:endParaRPr lang="en-US" sz="2200" dirty="0"/>
          </a:p>
        </p:txBody>
      </p:sp>
      <p:sp>
        <p:nvSpPr>
          <p:cNvPr id="5" name="Text 3"/>
          <p:cNvSpPr/>
          <p:nvPr/>
        </p:nvSpPr>
        <p:spPr>
          <a:xfrm>
            <a:off x="1422400" y="3489855"/>
            <a:ext cx="386080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5192B"/>
                </a:solidFill>
                <a:latin typeface="DM Sans" pitchFamily="34" charset="0"/>
                <a:ea typeface="DM Sans" pitchFamily="34" charset="-122"/>
                <a:cs typeface="DM Sans" pitchFamily="34" charset="-120"/>
              </a:rPr>
              <a:t>Upload notes or paste an article URL</a:t>
            </a:r>
            <a:endParaRPr lang="en-US" sz="1600" dirty="0"/>
          </a:p>
        </p:txBody>
      </p:sp>
      <p:sp>
        <p:nvSpPr>
          <p:cNvPr id="6" name="Text 4"/>
          <p:cNvSpPr/>
          <p:nvPr/>
        </p:nvSpPr>
        <p:spPr>
          <a:xfrm>
            <a:off x="812800" y="3977549"/>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15192B"/>
          </a:solidFill>
          <a:ln/>
        </p:spPr>
        <p:txBody>
          <a:bodyPr wrap="square" lIns="0" tIns="0" rIns="0" bIns="0" rtlCol="0" anchor="t">
            <a:normAutofit/>
          </a:bodyPr>
          <a:lstStyle/>
          <a:p>
            <a:pPr algn="ctr" indent="0" marL="0">
              <a:lnSpc>
                <a:spcPts val="3520"/>
              </a:lnSpc>
              <a:buNone/>
            </a:pPr>
            <a:r>
              <a:rPr lang="en-US" sz="2200" b="1" dirty="0">
                <a:solidFill>
                  <a:srgbClr val="F29A5E"/>
                </a:solidFill>
                <a:latin typeface="Bricolage Grotesque" pitchFamily="34" charset="0"/>
                <a:ea typeface="Bricolage Grotesque" pitchFamily="34" charset="-122"/>
                <a:cs typeface="Bricolage Grotesque" pitchFamily="34" charset="-120"/>
              </a:rPr>
              <a:t>2</a:t>
            </a:r>
            <a:endParaRPr lang="en-US" sz="2200" dirty="0"/>
          </a:p>
        </p:txBody>
      </p:sp>
      <p:sp>
        <p:nvSpPr>
          <p:cNvPr id="7" name="Text 5"/>
          <p:cNvSpPr/>
          <p:nvPr/>
        </p:nvSpPr>
        <p:spPr>
          <a:xfrm>
            <a:off x="1422400" y="4074055"/>
            <a:ext cx="36103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5192B"/>
                </a:solidFill>
                <a:latin typeface="DM Sans" pitchFamily="34" charset="0"/>
                <a:ea typeface="DM Sans" pitchFamily="34" charset="-122"/>
                <a:cs typeface="DM Sans" pitchFamily="34" charset="-120"/>
              </a:rPr>
              <a:t>Pick Short, Medium or Long</a:t>
            </a:r>
            <a:endParaRPr lang="en-US" sz="1600" dirty="0"/>
          </a:p>
        </p:txBody>
      </p:sp>
      <p:sp>
        <p:nvSpPr>
          <p:cNvPr id="8" name="Text 6"/>
          <p:cNvSpPr/>
          <p:nvPr/>
        </p:nvSpPr>
        <p:spPr>
          <a:xfrm>
            <a:off x="812800" y="4561749"/>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15192B"/>
          </a:solidFill>
          <a:ln/>
        </p:spPr>
        <p:txBody>
          <a:bodyPr wrap="square" lIns="0" tIns="0" rIns="0" bIns="0" rtlCol="0" anchor="t">
            <a:normAutofit/>
          </a:bodyPr>
          <a:lstStyle/>
          <a:p>
            <a:pPr algn="ctr" indent="0" marL="0">
              <a:lnSpc>
                <a:spcPts val="3520"/>
              </a:lnSpc>
              <a:buNone/>
            </a:pPr>
            <a:r>
              <a:rPr lang="en-US" sz="2200" b="1" dirty="0">
                <a:solidFill>
                  <a:srgbClr val="F29A5E"/>
                </a:solidFill>
                <a:latin typeface="Bricolage Grotesque" pitchFamily="34" charset="0"/>
                <a:ea typeface="Bricolage Grotesque" pitchFamily="34" charset="-122"/>
                <a:cs typeface="Bricolage Grotesque" pitchFamily="34" charset="-120"/>
              </a:rPr>
              <a:t>3</a:t>
            </a:r>
            <a:endParaRPr lang="en-US" sz="2200" dirty="0"/>
          </a:p>
        </p:txBody>
      </p:sp>
      <p:sp>
        <p:nvSpPr>
          <p:cNvPr id="9" name="Text 7"/>
          <p:cNvSpPr/>
          <p:nvPr/>
        </p:nvSpPr>
        <p:spPr>
          <a:xfrm>
            <a:off x="1422400" y="4658255"/>
            <a:ext cx="36103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5192B"/>
                </a:solidFill>
                <a:latin typeface="DM Sans" pitchFamily="34" charset="0"/>
                <a:ea typeface="DM Sans" pitchFamily="34" charset="-122"/>
                <a:cs typeface="DM Sans" pitchFamily="34" charset="-120"/>
              </a:rPr>
              <a:t>Listen, read along, download</a:t>
            </a:r>
            <a:endParaRPr lang="en-US" sz="1600" dirty="0"/>
          </a:p>
        </p:txBody>
      </p:sp>
      <p:sp>
        <p:nvSpPr>
          <p:cNvPr id="10" name="Shape 8"/>
          <p:cNvSpPr/>
          <p:nvPr/>
        </p:nvSpPr>
        <p:spPr>
          <a:xfrm>
            <a:off x="5283200" y="1619250"/>
            <a:ext cx="6096000" cy="3619500"/>
          </a:xfrm>
          <a:prstGeom prst="roundRect">
            <a:avLst>
              <a:gd name="adj" fmla="val 2807"/>
            </a:avLst>
          </a:prstGeom>
          <a:solidFill>
            <a:srgbClr val="FCFDFE"/>
          </a:solidFill>
          <a:ln/>
        </p:spPr>
      </p:sp>
      <p:pic>
        <p:nvPicPr>
          <p:cNvPr id="11" name="Image 0" descr="The Lesson Recapper Gradio app: file upload, article URL field and podcast length options on the left; script, audio player and download on the right">    </p:cNvPr>
          <p:cNvPicPr>
            <a:picLocks noChangeAspect="1"/>
          </p:cNvPicPr>
          <p:nvPr/>
        </p:nvPicPr>
        <p:blipFill>
          <a:blip r:embed="rId1"/>
          <a:srcRect l="-289" r="-289" t="0" b="0"/>
          <a:stretch/>
        </p:blipFill>
        <p:spPr>
          <a:xfrm>
            <a:off x="5308600" y="1644650"/>
            <a:ext cx="6045200" cy="3568700"/>
          </a:xfrm>
          <a:prstGeom prst="roundRect">
            <a:avLst>
              <a:gd name="adj" fmla="val 2135"/>
            </a:avLst>
          </a:prstGeom>
        </p:spPr>
      </p:pic>
      <p:sp>
        <p:nvSpPr>
          <p:cNvPr id="12" name="Shape 9"/>
          <p:cNvSpPr/>
          <p:nvPr/>
        </p:nvSpPr>
        <p:spPr>
          <a:xfrm>
            <a:off x="5295900" y="1631950"/>
            <a:ext cx="6070600" cy="3594100"/>
          </a:xfrm>
          <a:prstGeom prst="roundRect">
            <a:avLst>
              <a:gd name="adj" fmla="val 2473"/>
            </a:avLst>
          </a:prstGeom>
          <a:noFill/>
          <a:ln w="25400">
            <a:solidFill>
              <a:srgbClr val="15192B"/>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501C"/>
                </a:solidFill>
                <a:latin typeface="JetBrains Mono" pitchFamily="49" charset="0"/>
                <a:ea typeface="JetBrains Mono" pitchFamily="49" charset="-122"/>
                <a:cs typeface="JetBrains Mono" pitchFamily="49" charset="-120"/>
              </a:rPr>
              <a:t>TEAMWORK WITH GIT</a:t>
            </a:r>
            <a:endParaRPr lang="en-US" sz="1200" dirty="0"/>
          </a:p>
        </p:txBody>
      </p:sp>
      <p:sp>
        <p:nvSpPr>
          <p:cNvPr id="3" name="Text 1"/>
          <p:cNvSpPr/>
          <p:nvPr>
            <p:ph type="title"/>
          </p:nvPr>
        </p:nvSpPr>
        <p:spPr>
          <a:xfrm>
            <a:off x="812800" y="1153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92B"/>
                </a:solidFill>
                <a:latin typeface="Bricolage Grotesque" pitchFamily="34" charset="0"/>
                <a:ea typeface="Bricolage Grotesque" pitchFamily="34" charset="-122"/>
                <a:cs typeface="Bricolage Grotesque" pitchFamily="34" charset="-120"/>
              </a:rPr>
              <a:t>Own a module, merge through pull requests</a:t>
            </a:r>
            <a:endParaRPr lang="en-US" sz="3600" dirty="0"/>
          </a:p>
        </p:txBody>
      </p:sp>
      <p:sp>
        <p:nvSpPr>
          <p:cNvPr id="4" name="Shape 2"/>
          <p:cNvSpPr/>
          <p:nvPr/>
        </p:nvSpPr>
        <p:spPr>
          <a:xfrm>
            <a:off x="812800" y="2075129"/>
            <a:ext cx="3386667" cy="0"/>
          </a:xfrm>
          <a:prstGeom prst="line">
            <a:avLst/>
          </a:prstGeom>
          <a:noFill/>
          <a:ln w="25400">
            <a:solidFill>
              <a:srgbClr val="15192B"/>
            </a:solidFill>
            <a:prstDash val="solid"/>
          </a:ln>
        </p:spPr>
      </p:sp>
      <p:sp>
        <p:nvSpPr>
          <p:cNvPr id="5" name="Text 3"/>
          <p:cNvSpPr/>
          <p:nvPr/>
        </p:nvSpPr>
        <p:spPr>
          <a:xfrm>
            <a:off x="812800" y="2291029"/>
            <a:ext cx="348826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5192B"/>
                </a:solidFill>
                <a:latin typeface="Bricolage Grotesque" pitchFamily="34" charset="0"/>
                <a:ea typeface="Bricolage Grotesque" pitchFamily="34" charset="-122"/>
                <a:cs typeface="Bricolage Grotesque" pitchFamily="34" charset="-120"/>
              </a:rPr>
              <a:t>3</a:t>
            </a:r>
            <a:endParaRPr lang="en-US" sz="6000" dirty="0"/>
          </a:p>
        </p:txBody>
      </p:sp>
      <p:sp>
        <p:nvSpPr>
          <p:cNvPr id="6" name="Text 4"/>
          <p:cNvSpPr/>
          <p:nvPr/>
        </p:nvSpPr>
        <p:spPr>
          <a:xfrm>
            <a:off x="812800" y="3103829"/>
            <a:ext cx="348826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366"/>
                </a:solidFill>
                <a:latin typeface="DM Sans" pitchFamily="34" charset="0"/>
                <a:ea typeface="DM Sans" pitchFamily="34" charset="-122"/>
                <a:cs typeface="DM Sans" pitchFamily="34" charset="-120"/>
              </a:rPr>
              <a:t>teammates, one branch each</a:t>
            </a:r>
            <a:endParaRPr lang="en-US" sz="1600" dirty="0"/>
          </a:p>
        </p:txBody>
      </p:sp>
      <p:sp>
        <p:nvSpPr>
          <p:cNvPr id="7" name="Shape 5"/>
          <p:cNvSpPr/>
          <p:nvPr/>
        </p:nvSpPr>
        <p:spPr>
          <a:xfrm>
            <a:off x="4402667" y="2075129"/>
            <a:ext cx="3386667" cy="0"/>
          </a:xfrm>
          <a:prstGeom prst="line">
            <a:avLst/>
          </a:prstGeom>
          <a:noFill/>
          <a:ln w="25400">
            <a:solidFill>
              <a:srgbClr val="15192B"/>
            </a:solidFill>
            <a:prstDash val="solid"/>
          </a:ln>
        </p:spPr>
      </p:sp>
      <p:sp>
        <p:nvSpPr>
          <p:cNvPr id="8" name="Text 6"/>
          <p:cNvSpPr/>
          <p:nvPr/>
        </p:nvSpPr>
        <p:spPr>
          <a:xfrm>
            <a:off x="4402667" y="2291029"/>
            <a:ext cx="348826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5192B"/>
                </a:solidFill>
                <a:latin typeface="Bricolage Grotesque" pitchFamily="34" charset="0"/>
                <a:ea typeface="Bricolage Grotesque" pitchFamily="34" charset="-122"/>
                <a:cs typeface="Bricolage Grotesque" pitchFamily="34" charset="-120"/>
              </a:rPr>
              <a:t>4</a:t>
            </a:r>
            <a:endParaRPr lang="en-US" sz="6000" dirty="0"/>
          </a:p>
        </p:txBody>
      </p:sp>
      <p:sp>
        <p:nvSpPr>
          <p:cNvPr id="9" name="Text 7"/>
          <p:cNvSpPr/>
          <p:nvPr/>
        </p:nvSpPr>
        <p:spPr>
          <a:xfrm>
            <a:off x="4402667" y="3103829"/>
            <a:ext cx="348826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366"/>
                </a:solidFill>
                <a:latin typeface="DM Sans" pitchFamily="34" charset="0"/>
                <a:ea typeface="DM Sans" pitchFamily="34" charset="-122"/>
                <a:cs typeface="DM Sans" pitchFamily="34" charset="-120"/>
              </a:rPr>
              <a:t>modules with one job each</a:t>
            </a:r>
            <a:endParaRPr lang="en-US" sz="1600" dirty="0"/>
          </a:p>
        </p:txBody>
      </p:sp>
      <p:sp>
        <p:nvSpPr>
          <p:cNvPr id="10" name="Shape 8"/>
          <p:cNvSpPr/>
          <p:nvPr/>
        </p:nvSpPr>
        <p:spPr>
          <a:xfrm>
            <a:off x="7992534" y="2075129"/>
            <a:ext cx="3386667" cy="0"/>
          </a:xfrm>
          <a:prstGeom prst="line">
            <a:avLst/>
          </a:prstGeom>
          <a:noFill/>
          <a:ln w="25400">
            <a:solidFill>
              <a:srgbClr val="B8501C"/>
            </a:solidFill>
            <a:prstDash val="solid"/>
          </a:ln>
        </p:spPr>
      </p:sp>
      <p:sp>
        <p:nvSpPr>
          <p:cNvPr id="11" name="Text 9"/>
          <p:cNvSpPr/>
          <p:nvPr/>
        </p:nvSpPr>
        <p:spPr>
          <a:xfrm>
            <a:off x="7992534" y="2291029"/>
            <a:ext cx="348826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8501C"/>
                </a:solidFill>
                <a:latin typeface="Bricolage Grotesque" pitchFamily="34" charset="0"/>
                <a:ea typeface="Bricolage Grotesque" pitchFamily="34" charset="-122"/>
                <a:cs typeface="Bricolage Grotesque" pitchFamily="34" charset="-120"/>
              </a:rPr>
              <a:t>9</a:t>
            </a:r>
            <a:endParaRPr lang="en-US" sz="6000" dirty="0"/>
          </a:p>
        </p:txBody>
      </p:sp>
      <p:sp>
        <p:nvSpPr>
          <p:cNvPr id="12" name="Text 10"/>
          <p:cNvSpPr/>
          <p:nvPr/>
        </p:nvSpPr>
        <p:spPr>
          <a:xfrm>
            <a:off x="7992534" y="3103829"/>
            <a:ext cx="348826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366"/>
                </a:solidFill>
                <a:latin typeface="DM Sans" pitchFamily="34" charset="0"/>
                <a:ea typeface="DM Sans" pitchFamily="34" charset="-122"/>
                <a:cs typeface="DM Sans" pitchFamily="34" charset="-120"/>
              </a:rPr>
              <a:t>pull requests merged into main</a:t>
            </a:r>
            <a:endParaRPr lang="en-US" sz="1600" dirty="0"/>
          </a:p>
        </p:txBody>
      </p:sp>
      <p:sp>
        <p:nvSpPr>
          <p:cNvPr id="13" name="Text 11"/>
          <p:cNvSpPr/>
          <p:nvPr/>
        </p:nvSpPr>
        <p:spPr>
          <a:xfrm>
            <a:off x="812800" y="3794655"/>
            <a:ext cx="981075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192B"/>
                </a:solidFill>
                <a:latin typeface="DM Sans" pitchFamily="34" charset="0"/>
                <a:ea typeface="DM Sans" pitchFamily="34" charset="-122"/>
                <a:cs typeface="DM Sans" pitchFamily="34" charset="-120"/>
              </a:rPr>
              <a:t>-&gt; Are we all on the same page?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92B"/>
        </a:solidFill>
      </p:bgPr>
    </p:bg>
    <p:spTree>
      <p:nvGrpSpPr>
        <p:cNvPr id="1" name=""/>
        <p:cNvGrpSpPr/>
        <p:nvPr/>
      </p:nvGrpSpPr>
      <p:grpSpPr>
        <a:xfrm>
          <a:off x="0" y="0"/>
          <a:ext cx="0" cy="0"/>
          <a:chOff x="0" y="0"/>
          <a:chExt cx="0" cy="0"/>
        </a:xfrm>
      </p:grpSpPr>
      <p:pic>
        <p:nvPicPr>
          <p:cNvPr id="2" name="Image 0" descr="Sound wave">    </p:cNvPr>
          <p:cNvPicPr>
            <a:picLocks noChangeAspect="1"/>
          </p:cNvPicPr>
          <p:nvPr/>
        </p:nvPicPr>
        <p:blipFill>
          <a:blip r:embed="rId1"/>
          <a:srcRect l="0" r="0" t="0" b="0"/>
          <a:stretch/>
        </p:blipFill>
        <p:spPr>
          <a:xfrm>
            <a:off x="9398000" y="812800"/>
            <a:ext cx="1981200" cy="1016000"/>
          </a:xfrm>
          <a:prstGeom prst="rect">
            <a:avLst/>
          </a:prstGeom>
        </p:spPr>
      </p:pic>
      <p:sp>
        <p:nvSpPr>
          <p:cNvPr id="3" name="Text 0"/>
          <p:cNvSpPr/>
          <p:nvPr/>
        </p:nvSpPr>
        <p:spPr>
          <a:xfrm>
            <a:off x="812800" y="1498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A5E"/>
                </a:solidFill>
                <a:latin typeface="JetBrains Mono" pitchFamily="49" charset="0"/>
                <a:ea typeface="JetBrains Mono" pitchFamily="49" charset="-122"/>
                <a:cs typeface="JetBrains Mono" pitchFamily="49" charset="-120"/>
              </a:rPr>
              <a:t>KEY TAKEAWAY</a:t>
            </a:r>
            <a:endParaRPr lang="en-US" sz="1200" dirty="0"/>
          </a:p>
        </p:txBody>
      </p:sp>
      <p:sp>
        <p:nvSpPr>
          <p:cNvPr id="4" name="Text 1"/>
          <p:cNvSpPr/>
          <p:nvPr>
            <p:ph type="title"/>
          </p:nvPr>
        </p:nvSpPr>
        <p:spPr>
          <a:xfrm>
            <a:off x="812800" y="1905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5F9"/>
                </a:solidFill>
                <a:latin typeface="Bricolage Grotesque" pitchFamily="34" charset="0"/>
                <a:ea typeface="Bricolage Grotesque" pitchFamily="34" charset="-122"/>
                <a:cs typeface="Bricolage Grotesque" pitchFamily="34" charset="-120"/>
              </a:rPr>
              <a:t>Trial. Error. </a:t>
            </a:r>
            <a:r>
              <a:rPr lang="en-US" sz="6000" b="1" i="0" dirty="0">
                <a:solidFill>
                  <a:srgbClr val="F29A5E"/>
                </a:solidFill>
                <a:latin typeface="Bricolage Grotesque" pitchFamily="34" charset="0"/>
                <a:ea typeface="Bricolage Grotesque" pitchFamily="34" charset="-122"/>
                <a:cs typeface="Bricolage Grotesque" pitchFamily="34" charset="-120"/>
              </a:rPr>
              <a:t>Merge.</a:t>
            </a:r>
            <a:endParaRPr lang="en-US" sz="6000" dirty="0"/>
          </a:p>
        </p:txBody>
      </p:sp>
      <p:sp>
        <p:nvSpPr>
          <p:cNvPr id="5" name="Text 2"/>
          <p:cNvSpPr/>
          <p:nvPr/>
        </p:nvSpPr>
        <p:spPr>
          <a:xfrm>
            <a:off x="812800" y="3022600"/>
            <a:ext cx="9156700" cy="11150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CC3D3"/>
                </a:solidFill>
                <a:latin typeface="DM Sans" pitchFamily="34" charset="0"/>
                <a:ea typeface="DM Sans" pitchFamily="34" charset="-122"/>
                <a:cs typeface="DM Sans" pitchFamily="34" charset="-120"/>
              </a:rPr>
              <a:t>Each of us used AI to adapt code on our own branch. Bringing those versions together took extra coordination and caused some confusion. Now we're all on the same branch.</a:t>
            </a:r>
            <a:endParaRPr lang="en-US" sz="2200" dirty="0"/>
          </a:p>
        </p:txBody>
      </p:sp>
      <p:sp>
        <p:nvSpPr>
          <p:cNvPr id="6" name="Text 3"/>
          <p:cNvSpPr/>
          <p:nvPr/>
        </p:nvSpPr>
        <p:spPr>
          <a:xfrm>
            <a:off x="812800" y="4927600"/>
            <a:ext cx="2282164" cy="438150"/>
          </a:xfrm>
          <a:prstGeom prst="roundRect">
            <a:avLst>
              <a:gd name="adj" fmla="val 50000"/>
            </a:avLst>
          </a:prstGeom>
          <a:solidFill>
            <a:srgbClr val="F29A5E"/>
          </a:solidFill>
          <a:ln/>
        </p:spPr>
        <p:txBody>
          <a:bodyPr wrap="none" lIns="0" tIns="0" rIns="0" bIns="0" rtlCol="0" anchor="ctr">
            <a:normAutofit/>
          </a:bodyPr>
          <a:lstStyle/>
          <a:p>
            <a:pPr algn="ctr" indent="0" marL="0">
              <a:lnSpc>
                <a:spcPts val="2240"/>
              </a:lnSpc>
              <a:buNone/>
            </a:pPr>
            <a:r>
              <a:rPr lang="en-US" sz="1600" dirty="0">
                <a:solidFill>
                  <a:srgbClr val="15192B"/>
                </a:solidFill>
                <a:latin typeface="DM Sans" pitchFamily="34" charset="0"/>
                <a:ea typeface="DM Sans" pitchFamily="34" charset="-122"/>
                <a:cs typeface="DM Sans" pitchFamily="34" charset="-120"/>
              </a:rPr>
              <a:t>One branch per task</a:t>
            </a:r>
            <a:endParaRPr lang="en-US" sz="1600" dirty="0"/>
          </a:p>
        </p:txBody>
      </p:sp>
      <p:sp>
        <p:nvSpPr>
          <p:cNvPr id="7" name="Text 4"/>
          <p:cNvSpPr/>
          <p:nvPr/>
        </p:nvSpPr>
        <p:spPr>
          <a:xfrm>
            <a:off x="3196564" y="4927600"/>
            <a:ext cx="2724150" cy="438150"/>
          </a:xfrm>
          <a:prstGeom prst="roundRect">
            <a:avLst>
              <a:gd name="adj" fmla="val 50000"/>
            </a:avLst>
          </a:prstGeom>
          <a:solidFill>
            <a:srgbClr val="F29A5E"/>
          </a:solidFill>
          <a:ln/>
        </p:spPr>
        <p:txBody>
          <a:bodyPr wrap="none" lIns="0" tIns="0" rIns="0" bIns="0" rtlCol="0" anchor="ctr">
            <a:normAutofit/>
          </a:bodyPr>
          <a:lstStyle/>
          <a:p>
            <a:pPr algn="ctr" indent="0" marL="0">
              <a:lnSpc>
                <a:spcPts val="2240"/>
              </a:lnSpc>
              <a:buNone/>
            </a:pPr>
            <a:r>
              <a:rPr lang="en-US" sz="1600" dirty="0">
                <a:solidFill>
                  <a:srgbClr val="15192B"/>
                </a:solidFill>
                <a:latin typeface="DM Sans" pitchFamily="34" charset="0"/>
                <a:ea typeface="DM Sans" pitchFamily="34" charset="-122"/>
                <a:cs typeface="DM Sans" pitchFamily="34" charset="-120"/>
              </a:rPr>
              <a:t>Pull main before every PR</a:t>
            </a:r>
            <a:endParaRPr lang="en-US" sz="1600" dirty="0"/>
          </a:p>
        </p:txBody>
      </p:sp>
      <p:sp>
        <p:nvSpPr>
          <p:cNvPr id="8" name="Text 5"/>
          <p:cNvSpPr/>
          <p:nvPr/>
        </p:nvSpPr>
        <p:spPr>
          <a:xfrm>
            <a:off x="6022314" y="4927600"/>
            <a:ext cx="3174008" cy="438150"/>
          </a:xfrm>
          <a:prstGeom prst="roundRect">
            <a:avLst>
              <a:gd name="adj" fmla="val 50000"/>
            </a:avLst>
          </a:prstGeom>
          <a:solidFill>
            <a:srgbClr val="F29A5E"/>
          </a:solidFill>
          <a:ln/>
        </p:spPr>
        <p:txBody>
          <a:bodyPr wrap="none" lIns="0" tIns="0" rIns="0" bIns="0" rtlCol="0" anchor="ctr">
            <a:normAutofit/>
          </a:bodyPr>
          <a:lstStyle/>
          <a:p>
            <a:pPr algn="ctr" indent="0" marL="0">
              <a:lnSpc>
                <a:spcPts val="2240"/>
              </a:lnSpc>
              <a:buNone/>
            </a:pPr>
            <a:r>
              <a:rPr lang="en-US" sz="1600" dirty="0">
                <a:solidFill>
                  <a:srgbClr val="15192B"/>
                </a:solidFill>
                <a:latin typeface="DM Sans" pitchFamily="34" charset="0"/>
                <a:ea typeface="DM Sans" pitchFamily="34" charset="-122"/>
                <a:cs typeface="DM Sans" pitchFamily="34" charset="-120"/>
              </a:rPr>
              <a:t>Merge one at a time, then test</a:t>
            </a:r>
            <a:endParaRPr lang="en-US" sz="1600" dirty="0"/>
          </a:p>
        </p:txBody>
      </p:sp>
    </p:spTree>
  </p:cSld>
  <p:clrMapOvr>
    <a:masterClrMapping/>
  </p:clrMapOvr>
</p:sld>
</file>

<file path=ppt/theme/theme1.xml><?xml version="1.0" encoding="utf-8"?>
<a:theme xmlns:a="http://schemas.openxmlformats.org/drawingml/2006/main" name="Lesson Recapper">
  <a:themeElements>
    <a:clrScheme name="Lesson Recapper">
      <a:dk1>
        <a:srgbClr val="15192B"/>
      </a:dk1>
      <a:lt1>
        <a:srgbClr val="F3F5F9"/>
      </a:lt1>
      <a:dk2>
        <a:srgbClr val="4D505F"/>
      </a:dk2>
      <a:lt2>
        <a:srgbClr val="DDDFE4"/>
      </a:lt2>
      <a:accent1>
        <a:srgbClr val="F29A5E"/>
      </a:accent1>
      <a:accent2>
        <a:srgbClr val="B8501C"/>
      </a:accent2>
      <a:accent3>
        <a:srgbClr val="4A5366"/>
      </a:accent3>
      <a:accent4>
        <a:srgbClr val="BCC3D3"/>
      </a:accent4>
      <a:accent5>
        <a:srgbClr val="9AA0A6"/>
      </a:accent5>
      <a:accent6>
        <a:srgbClr val="6E717D"/>
      </a:accent6>
      <a:hlink>
        <a:srgbClr val="0563C1"/>
      </a:hlink>
      <a:folHlink>
        <a:srgbClr val="954F72"/>
      </a:folHlink>
    </a:clrScheme>
    <a:fontScheme name="Lesson Recapper">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Recapper</dc:title>
  <dc:subject/>
  <dc:creator/>
  <cp:lastModifiedBy/>
  <cp:revision>1</cp:revision>
  <dcterms:created xsi:type="dcterms:W3CDTF">2026-10-13T12:36:32Z</dcterms:created>
  <dcterms:modified xsi:type="dcterms:W3CDTF">2026-10-13T12:36:32Z</dcterms:modified>
</cp:coreProperties>
</file>